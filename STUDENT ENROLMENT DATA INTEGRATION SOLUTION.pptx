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98" r:id="rId1"/>
  </p:sldMasterIdLst>
  <p:notesMasterIdLst>
    <p:notesMasterId r:id="rId14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5214AD-228E-4AAA-8541-B16BAF9313C4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57B8FA-3686-40EC-951E-4EF6FB72A8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44178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57B8FA-3686-40EC-951E-4EF6FB72A8D9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42914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237BCC-92D0-8063-BE88-CDA42E669D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48D9E5-3F68-0620-01A4-25D88FA9D6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B64A0F-57A3-7C89-DA41-DA624E8311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B474A-2E74-4E51-A0B1-713BD7EA9DE5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453F66-00A1-8103-B19C-9CF2F8CEE7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10BA99-63D2-D679-5EE5-B81C8094C2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7123FF-36FE-4F93-9DF3-6F9DB6EF88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29186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40D565-2685-47E9-2F2C-D469A1BA47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E23F49-EABA-0705-47D1-9A99E04589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319D86-15C0-EAB6-4049-6350B4C14A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B474A-2E74-4E51-A0B1-713BD7EA9DE5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BF99FC-DC57-5CBE-FC26-9F47228136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03902F-D96C-798F-1078-098543AEF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7123FF-36FE-4F93-9DF3-6F9DB6EF88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20386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88938C-49DA-BD89-5ADA-DAC53D4511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1A830A-E3F7-DCBC-4FE4-3D3CD44C83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D0148E-4946-E61B-9FA2-5DA442794A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B474A-2E74-4E51-A0B1-713BD7EA9DE5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C0DB57-45C2-3E82-0E72-30B14C295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E4E04A-B9FC-E73A-F6CE-C8C0CC1A54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7123FF-36FE-4F93-9DF3-6F9DB6EF88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47277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9D16C0-80F8-315C-D765-2201994DD6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2C5140-6499-9B7A-3601-89AAFC163A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778425-B84B-49F5-12C7-CF12C339EB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73A028-D594-BAEF-D335-21075F7466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B474A-2E74-4E51-A0B1-713BD7EA9DE5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81DD55-68BB-35B3-AD4E-9EB99ABA5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45178A-DADC-DD1F-6D44-BBFB60033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7123FF-36FE-4F93-9DF3-6F9DB6EF88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41700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A4F2DB-4227-D888-C515-F34FF1ED7F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90D202-C827-88C5-0635-C5FB1AE873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5D7F23-E97E-2BA3-B1AA-06047874A1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1E7D8E6-9BA4-062C-D2D1-D1746FA415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3AFF6A4-CE13-C468-3C6A-58D4835E48F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BE72D4E-9DCA-7D00-B96E-FD6854F5F1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B474A-2E74-4E51-A0B1-713BD7EA9DE5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357970D-7805-569D-0C1C-21971F3056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3F29FF4-5937-AF4A-A6E9-AE00C1630B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7123FF-36FE-4F93-9DF3-6F9DB6EF88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88818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F6E8F4-C9A2-9300-2041-243F6AFDC4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E9A992-0A82-E04E-52E2-6DA3787CA8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B474A-2E74-4E51-A0B1-713BD7EA9DE5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8CEC2D-8215-6C64-320A-F005A6BB8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5BE6D8-17D9-EBF8-9EA6-4587625973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7123FF-36FE-4F93-9DF3-6F9DB6EF88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52917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305762-C0D2-C399-A216-F5A4677BCF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B474A-2E74-4E51-A0B1-713BD7EA9DE5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245BEB7-A9D6-0B28-E3DD-AF1A6B6EA3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585EC4-436F-C100-BF05-503A389341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7123FF-36FE-4F93-9DF3-6F9DB6EF88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28922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7BC648-A017-6677-F57A-9DA76E9F32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212181-72AD-110F-839A-3D770EA556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E67124-2045-E991-A95D-47078AC151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D4D4E4-8621-03A0-8E68-77AEAAA252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B474A-2E74-4E51-A0B1-713BD7EA9DE5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A1E67F-F6F0-4DD3-81D9-A4777FB4AA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40CDE0-3A4D-D9D1-1C94-ED0BEC400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7123FF-36FE-4F93-9DF3-6F9DB6EF88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32693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F9885C-5E2B-C7F2-24E7-41F535B011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7D8F63F-1D40-F2CB-86BB-3EB71074979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54F9FA-E5C0-F275-0565-EE8B1BDA92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C694F8-6A5F-97FD-EC95-87E5C61357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B474A-2E74-4E51-A0B1-713BD7EA9DE5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25548F-0EB5-7355-ACF2-25ACD7B0AE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EB9167-788F-CF56-A035-9F09B93D48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7123FF-36FE-4F93-9DF3-6F9DB6EF88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07993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81E902-875B-647C-D1B7-13F19F51FC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88C090-2EE2-DBA0-FC6B-3A32146B50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FFD654-B09E-7175-0E56-9384D2D56E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B474A-2E74-4E51-A0B1-713BD7EA9DE5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ACDBDE-E7D0-42CD-2407-94F6C263DE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D2D2CD-27D3-DA52-20BC-AA26EE5E46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7123FF-36FE-4F93-9DF3-6F9DB6EF88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67865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6893F7-CC13-7953-C420-E2763A02AC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9FAB0A-CAB8-448E-7C35-440C289BCE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FF9AD6-6537-1FE5-6597-DC03D918FC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B474A-2E74-4E51-A0B1-713BD7EA9DE5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0E199F-545E-F85D-35BB-9B7A54672E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1409E8-B8C8-9BEB-4354-59581C20BA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7123FF-36FE-4F93-9DF3-6F9DB6EF88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32882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Agenda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463362"/>
            <a:ext cx="11122507" cy="1162632"/>
          </a:xfrm>
        </p:spPr>
        <p:txBody>
          <a:bodyPr anchor="ctr">
            <a:normAutofit/>
          </a:bodyPr>
          <a:lstStyle>
            <a:lvl1pPr>
              <a:defRPr sz="7200" cap="all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79085" y="2249592"/>
            <a:ext cx="6100623" cy="3787062"/>
          </a:xfrm>
        </p:spPr>
        <p:txBody>
          <a:bodyPr vert="horz" lIns="91440" tIns="45720" rIns="91440" bIns="45720" rtlCol="0">
            <a:normAutofit/>
          </a:bodyPr>
          <a:lstStyle>
            <a:lvl1pPr marL="457200" indent="-457200">
              <a:buFont typeface="+mj-lt"/>
              <a:buAutoNum type="arabicPeriod"/>
              <a:defRPr lang="en-US" sz="2000" dirty="0">
                <a:solidFill>
                  <a:schemeClr val="tx2"/>
                </a:solidFill>
              </a:defRPr>
            </a:lvl1pPr>
            <a:lvl2pPr marL="571500" indent="-342900">
              <a:buFont typeface="+mj-lt"/>
              <a:buAutoNum type="arabicPeriod"/>
              <a:defRPr lang="en-US" sz="1800" dirty="0">
                <a:solidFill>
                  <a:schemeClr val="tx2"/>
                </a:solidFill>
              </a:defRPr>
            </a:lvl2pPr>
            <a:lvl3pPr marL="800100" indent="-342900">
              <a:buFont typeface="+mj-lt"/>
              <a:buAutoNum type="arabicPeriod"/>
              <a:defRPr lang="en-US" sz="1600" dirty="0">
                <a:solidFill>
                  <a:schemeClr val="tx2"/>
                </a:solidFill>
              </a:defRPr>
            </a:lvl3pPr>
            <a:lvl4pPr marL="1028700" indent="-342900">
              <a:buFont typeface="+mj-lt"/>
              <a:buAutoNum type="arabicPeriod"/>
              <a:defRPr lang="en-US" sz="1400" dirty="0">
                <a:solidFill>
                  <a:schemeClr val="tx2"/>
                </a:solidFill>
              </a:defRPr>
            </a:lvl4pPr>
            <a:lvl5pPr marL="1257300" indent="-342900">
              <a:buFont typeface="+mj-lt"/>
              <a:buAutoNum type="arabicPeriod"/>
              <a:defRPr lang="en-US" sz="1400" dirty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949302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01B474A-2E74-4E51-A0B1-713BD7EA9DE5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17123FF-36FE-4F93-9DF3-6F9DB6EF88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04323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5E98025-E0EC-283F-B5A4-DA9644C742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6B3AB6-EC96-6458-4B8F-EF20E16369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0E586E-07EA-D260-0559-53AF9FBACB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01B474A-2E74-4E51-A0B1-713BD7EA9DE5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3F6781-B1BE-7426-69C2-CAF18CE933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A15F37-6E9D-A4A3-DF5A-0835960C3C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17123FF-36FE-4F93-9DF3-6F9DB6EF88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05703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9" r:id="rId1"/>
    <p:sldLayoutId id="2147483900" r:id="rId2"/>
    <p:sldLayoutId id="2147483901" r:id="rId3"/>
    <p:sldLayoutId id="2147483902" r:id="rId4"/>
    <p:sldLayoutId id="2147483903" r:id="rId5"/>
    <p:sldLayoutId id="2147483904" r:id="rId6"/>
    <p:sldLayoutId id="2147483905" r:id="rId7"/>
    <p:sldLayoutId id="2147483906" r:id="rId8"/>
    <p:sldLayoutId id="2147483907" r:id="rId9"/>
    <p:sldLayoutId id="2147483908" r:id="rId10"/>
    <p:sldLayoutId id="2147483909" r:id="rId11"/>
    <p:sldLayoutId id="214748391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4522B21E-B2B9-4C72-9A71-C87EFD1374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EB7D2A2-F448-44D4-938C-DC84CBCB3B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92000" cy="441258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71AEA07-1E14-44B4-8E55-64EF049CD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551962"/>
            <a:ext cx="10999072" cy="461854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69B982-030A-D2B4-008B-A5FE2D1561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042415"/>
            <a:ext cx="9741408" cy="392212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400" b="1" kern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 ENROLMENT DATA INTEGRATION SOLUTION</a:t>
            </a:r>
            <a:br>
              <a:rPr lang="en-US" sz="2400" b="1" kern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400" b="1" kern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kern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Azure Integration Developer Technical Assessment</a:t>
            </a:r>
            <a:br>
              <a:rPr lang="en-US" sz="2400" b="1" kern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400" b="1" kern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400" b="1" kern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400" kern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kern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University of Portsmouth - Library and Information Services</a:t>
            </a:r>
            <a:br>
              <a:rPr lang="en-US" sz="2400" kern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400" kern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kern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Presenter: Mohammad Kafee Uddin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7C8EA93-3210-4C62-99E9-153C275E3A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96464" y="6354708"/>
            <a:ext cx="11000232" cy="0"/>
          </a:xfrm>
          <a:prstGeom prst="line">
            <a:avLst/>
          </a:prstGeom>
          <a:ln w="1016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20928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27D73B4-9F5C-4A64-A179-51B9500CB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1F06963-6374-4B48-844F-071A9BAAAE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9528" y="554152"/>
            <a:ext cx="5742189" cy="5742189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0DEAD7-55B1-2568-0A17-2628DF1B29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5072" y="1289765"/>
            <a:ext cx="3651101" cy="4270963"/>
          </a:xfrm>
        </p:spPr>
        <p:txBody>
          <a:bodyPr anchor="ctr">
            <a:normAutofit/>
          </a:bodyPr>
          <a:lstStyle/>
          <a:p>
            <a:pPr algn="ctr"/>
            <a:r>
              <a:rPr lang="en-IN" sz="4300" b="1">
                <a:solidFill>
                  <a:srgbClr val="FFFFFF"/>
                </a:solidFill>
              </a:rPr>
              <a:t>Business Problem &amp; Requirements</a:t>
            </a:r>
            <a:br>
              <a:rPr lang="en-IN" sz="4300" b="1">
                <a:solidFill>
                  <a:srgbClr val="FFFFFF"/>
                </a:solidFill>
              </a:rPr>
            </a:br>
            <a:endParaRPr lang="en-IN" sz="4300">
              <a:solidFill>
                <a:srgbClr val="FFFFFF"/>
              </a:solidFill>
            </a:endParaRPr>
          </a:p>
        </p:txBody>
      </p:sp>
      <p:sp>
        <p:nvSpPr>
          <p:cNvPr id="12" name="Graphic 11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3493" y="374394"/>
            <a:ext cx="171515" cy="171515"/>
          </a:xfrm>
          <a:custGeom>
            <a:avLst/>
            <a:gdLst>
              <a:gd name="connsiteX0" fmla="*/ 159874 w 171515"/>
              <a:gd name="connsiteY0" fmla="*/ 74116 h 171515"/>
              <a:gd name="connsiteX1" fmla="*/ 97399 w 171515"/>
              <a:gd name="connsiteY1" fmla="*/ 74116 h 171515"/>
              <a:gd name="connsiteX2" fmla="*/ 97399 w 171515"/>
              <a:gd name="connsiteY2" fmla="*/ 11641 h 171515"/>
              <a:gd name="connsiteX3" fmla="*/ 85758 w 171515"/>
              <a:gd name="connsiteY3" fmla="*/ 0 h 171515"/>
              <a:gd name="connsiteX4" fmla="*/ 74116 w 171515"/>
              <a:gd name="connsiteY4" fmla="*/ 11641 h 171515"/>
              <a:gd name="connsiteX5" fmla="*/ 74116 w 171515"/>
              <a:gd name="connsiteY5" fmla="*/ 74116 h 171515"/>
              <a:gd name="connsiteX6" fmla="*/ 11641 w 171515"/>
              <a:gd name="connsiteY6" fmla="*/ 74116 h 171515"/>
              <a:gd name="connsiteX7" fmla="*/ 0 w 171515"/>
              <a:gd name="connsiteY7" fmla="*/ 85758 h 171515"/>
              <a:gd name="connsiteX8" fmla="*/ 11641 w 171515"/>
              <a:gd name="connsiteY8" fmla="*/ 97399 h 171515"/>
              <a:gd name="connsiteX9" fmla="*/ 74116 w 171515"/>
              <a:gd name="connsiteY9" fmla="*/ 97399 h 171515"/>
              <a:gd name="connsiteX10" fmla="*/ 74116 w 171515"/>
              <a:gd name="connsiteY10" fmla="*/ 159874 h 171515"/>
              <a:gd name="connsiteX11" fmla="*/ 85758 w 171515"/>
              <a:gd name="connsiteY11" fmla="*/ 171515 h 171515"/>
              <a:gd name="connsiteX12" fmla="*/ 97399 w 171515"/>
              <a:gd name="connsiteY12" fmla="*/ 159874 h 171515"/>
              <a:gd name="connsiteX13" fmla="*/ 97399 w 171515"/>
              <a:gd name="connsiteY13" fmla="*/ 97399 h 171515"/>
              <a:gd name="connsiteX14" fmla="*/ 159874 w 171515"/>
              <a:gd name="connsiteY14" fmla="*/ 97399 h 171515"/>
              <a:gd name="connsiteX15" fmla="*/ 171515 w 171515"/>
              <a:gd name="connsiteY15" fmla="*/ 85758 h 171515"/>
              <a:gd name="connsiteX16" fmla="*/ 159874 w 171515"/>
              <a:gd name="connsiteY16" fmla="*/ 74116 h 171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71515" h="171515">
                <a:moveTo>
                  <a:pt x="159874" y="74116"/>
                </a:moveTo>
                <a:lnTo>
                  <a:pt x="97399" y="74116"/>
                </a:lnTo>
                <a:lnTo>
                  <a:pt x="97399" y="11641"/>
                </a:lnTo>
                <a:cubicBezTo>
                  <a:pt x="97399" y="5212"/>
                  <a:pt x="92187" y="0"/>
                  <a:pt x="85758" y="0"/>
                </a:cubicBezTo>
                <a:cubicBezTo>
                  <a:pt x="79328" y="0"/>
                  <a:pt x="74116" y="5212"/>
                  <a:pt x="74116" y="11641"/>
                </a:cubicBezTo>
                <a:lnTo>
                  <a:pt x="74116" y="74116"/>
                </a:lnTo>
                <a:lnTo>
                  <a:pt x="11641" y="74116"/>
                </a:lnTo>
                <a:cubicBezTo>
                  <a:pt x="5212" y="74116"/>
                  <a:pt x="0" y="79328"/>
                  <a:pt x="0" y="85758"/>
                </a:cubicBezTo>
                <a:cubicBezTo>
                  <a:pt x="0" y="92187"/>
                  <a:pt x="5212" y="97399"/>
                  <a:pt x="11641" y="97399"/>
                </a:cubicBezTo>
                <a:lnTo>
                  <a:pt x="74116" y="97399"/>
                </a:lnTo>
                <a:lnTo>
                  <a:pt x="74116" y="159874"/>
                </a:lnTo>
                <a:cubicBezTo>
                  <a:pt x="74116" y="166303"/>
                  <a:pt x="79328" y="171515"/>
                  <a:pt x="85758" y="171515"/>
                </a:cubicBezTo>
                <a:cubicBezTo>
                  <a:pt x="92187" y="171515"/>
                  <a:pt x="97399" y="166303"/>
                  <a:pt x="97399" y="159874"/>
                </a:cubicBezTo>
                <a:lnTo>
                  <a:pt x="97399" y="97399"/>
                </a:lnTo>
                <a:lnTo>
                  <a:pt x="159874" y="97399"/>
                </a:lnTo>
                <a:cubicBezTo>
                  <a:pt x="166303" y="97399"/>
                  <a:pt x="171515" y="92187"/>
                  <a:pt x="171515" y="85758"/>
                </a:cubicBezTo>
                <a:cubicBezTo>
                  <a:pt x="171515" y="79328"/>
                  <a:pt x="166303" y="74116"/>
                  <a:pt x="159874" y="74116"/>
                </a:cubicBezTo>
                <a:close/>
              </a:path>
            </a:pathLst>
          </a:custGeom>
          <a:solidFill>
            <a:schemeClr val="accent2"/>
          </a:solidFill>
          <a:ln w="77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4" name="Graphic 12">
            <a:extLst>
              <a:ext uri="{FF2B5EF4-FFF2-40B4-BE49-F238E27FC236}">
                <a16:creationId xmlns:a16="http://schemas.microsoft.com/office/drawing/2014/main" id="{1453BF6C-B012-48B7-B4E8-6D7AC7C27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0109" y="1084507"/>
            <a:ext cx="157545" cy="157545"/>
          </a:xfrm>
          <a:custGeom>
            <a:avLst/>
            <a:gdLst>
              <a:gd name="connsiteX0" fmla="*/ 78773 w 157545"/>
              <a:gd name="connsiteY0" fmla="*/ 23283 h 157545"/>
              <a:gd name="connsiteX1" fmla="*/ 134262 w 157545"/>
              <a:gd name="connsiteY1" fmla="*/ 78773 h 157545"/>
              <a:gd name="connsiteX2" fmla="*/ 78773 w 157545"/>
              <a:gd name="connsiteY2" fmla="*/ 134262 h 157545"/>
              <a:gd name="connsiteX3" fmla="*/ 23283 w 157545"/>
              <a:gd name="connsiteY3" fmla="*/ 78773 h 157545"/>
              <a:gd name="connsiteX4" fmla="*/ 78773 w 157545"/>
              <a:gd name="connsiteY4" fmla="*/ 23283 h 157545"/>
              <a:gd name="connsiteX5" fmla="*/ 78773 w 157545"/>
              <a:gd name="connsiteY5" fmla="*/ 0 h 157545"/>
              <a:gd name="connsiteX6" fmla="*/ 0 w 157545"/>
              <a:gd name="connsiteY6" fmla="*/ 78773 h 157545"/>
              <a:gd name="connsiteX7" fmla="*/ 78773 w 157545"/>
              <a:gd name="connsiteY7" fmla="*/ 157545 h 157545"/>
              <a:gd name="connsiteX8" fmla="*/ 157545 w 157545"/>
              <a:gd name="connsiteY8" fmla="*/ 78773 h 157545"/>
              <a:gd name="connsiteX9" fmla="*/ 78773 w 157545"/>
              <a:gd name="connsiteY9" fmla="*/ 0 h 157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7545" h="157545">
                <a:moveTo>
                  <a:pt x="78773" y="23283"/>
                </a:moveTo>
                <a:cubicBezTo>
                  <a:pt x="109419" y="23283"/>
                  <a:pt x="134262" y="48126"/>
                  <a:pt x="134262" y="78773"/>
                </a:cubicBezTo>
                <a:cubicBezTo>
                  <a:pt x="134262" y="109419"/>
                  <a:pt x="109419" y="134262"/>
                  <a:pt x="78773" y="134262"/>
                </a:cubicBezTo>
                <a:cubicBezTo>
                  <a:pt x="48126" y="134262"/>
                  <a:pt x="23283" y="109419"/>
                  <a:pt x="23283" y="78773"/>
                </a:cubicBezTo>
                <a:cubicBezTo>
                  <a:pt x="23312" y="48139"/>
                  <a:pt x="48139" y="23312"/>
                  <a:pt x="78773" y="23283"/>
                </a:cubicBezTo>
                <a:moveTo>
                  <a:pt x="78773" y="0"/>
                </a:moveTo>
                <a:cubicBezTo>
                  <a:pt x="35268" y="0"/>
                  <a:pt x="0" y="35268"/>
                  <a:pt x="0" y="78773"/>
                </a:cubicBezTo>
                <a:cubicBezTo>
                  <a:pt x="0" y="122277"/>
                  <a:pt x="35268" y="157545"/>
                  <a:pt x="78773" y="157545"/>
                </a:cubicBezTo>
                <a:cubicBezTo>
                  <a:pt x="122277" y="157545"/>
                  <a:pt x="157545" y="122277"/>
                  <a:pt x="157545" y="78773"/>
                </a:cubicBezTo>
                <a:cubicBezTo>
                  <a:pt x="157545" y="35268"/>
                  <a:pt x="122277" y="0"/>
                  <a:pt x="78773" y="0"/>
                </a:cubicBezTo>
                <a:close/>
              </a:path>
            </a:pathLst>
          </a:custGeom>
          <a:solidFill>
            <a:schemeClr val="accent2"/>
          </a:solidFill>
          <a:ln w="75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5B4CD4-8F3F-F936-531E-858F36A32F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08718" y="386499"/>
            <a:ext cx="5783754" cy="644778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IN" sz="1700" b="1" dirty="0">
                <a:solidFill>
                  <a:schemeClr val="tx1">
                    <a:alpha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Challenge</a:t>
            </a:r>
          </a:p>
          <a:p>
            <a:pPr marL="0" indent="0">
              <a:buNone/>
            </a:pPr>
            <a:r>
              <a:rPr lang="en-IN" sz="1700" b="1" dirty="0">
                <a:solidFill>
                  <a:schemeClr val="tx1">
                    <a:alpha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Scenario:</a:t>
            </a:r>
            <a:endParaRPr lang="en-IN" sz="1700" dirty="0">
              <a:solidFill>
                <a:schemeClr val="tx1">
                  <a:alpha val="8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1700" dirty="0">
                <a:solidFill>
                  <a:schemeClr val="tx1">
                    <a:alpha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External Admissions System exports student enrolment data</a:t>
            </a:r>
          </a:p>
          <a:p>
            <a:pPr lvl="0"/>
            <a:r>
              <a:rPr lang="en-IN" sz="1700" dirty="0">
                <a:solidFill>
                  <a:schemeClr val="tx1">
                    <a:alpha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format incompatible with University's Student Information System (SIS)</a:t>
            </a:r>
          </a:p>
          <a:p>
            <a:pPr lvl="0"/>
            <a:r>
              <a:rPr lang="en-IN" sz="1700" dirty="0">
                <a:solidFill>
                  <a:schemeClr val="tx1">
                    <a:alpha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quality issues present (missing fields, duplicates, invalid values)</a:t>
            </a:r>
          </a:p>
          <a:p>
            <a:pPr lvl="0"/>
            <a:endParaRPr lang="en-IN" sz="1700" dirty="0">
              <a:solidFill>
                <a:schemeClr val="tx1">
                  <a:alpha val="8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700" b="1" dirty="0">
                <a:solidFill>
                  <a:schemeClr val="tx1">
                    <a:alpha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Requirements:</a:t>
            </a:r>
            <a:endParaRPr lang="en-IN" sz="1700" dirty="0">
              <a:solidFill>
                <a:schemeClr val="tx1">
                  <a:alpha val="8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1700" dirty="0">
                <a:solidFill>
                  <a:schemeClr val="tx1">
                    <a:alpha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Read and validate incoming data</a:t>
            </a:r>
          </a:p>
          <a:p>
            <a:pPr lvl="0"/>
            <a:r>
              <a:rPr lang="en-IN" sz="1700" dirty="0">
                <a:solidFill>
                  <a:schemeClr val="tx1">
                    <a:alpha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Transform to SIS format</a:t>
            </a:r>
          </a:p>
          <a:p>
            <a:pPr lvl="0"/>
            <a:r>
              <a:rPr lang="en-IN" sz="1700" dirty="0">
                <a:solidFill>
                  <a:schemeClr val="tx1">
                    <a:alpha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Handle data quality issues gracefully</a:t>
            </a:r>
          </a:p>
          <a:p>
            <a:pPr lvl="0"/>
            <a:r>
              <a:rPr lang="en-IN" sz="1700" b="1" dirty="0">
                <a:solidFill>
                  <a:schemeClr val="tx1">
                    <a:alpha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Service Bus as architectural boundary</a:t>
            </a:r>
            <a:endParaRPr lang="en-IN" sz="1700" dirty="0">
              <a:solidFill>
                <a:schemeClr val="tx1">
                  <a:alpha val="8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1700" dirty="0">
                <a:solidFill>
                  <a:schemeClr val="tx1">
                    <a:alpha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Clear exception reporting for support teams</a:t>
            </a:r>
          </a:p>
          <a:p>
            <a:pPr lvl="0"/>
            <a:r>
              <a:rPr lang="en-IN" sz="1700" dirty="0">
                <a:solidFill>
                  <a:schemeClr val="tx1">
                    <a:alpha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Testable and auditable solution</a:t>
            </a:r>
          </a:p>
          <a:p>
            <a:pPr marL="0" indent="0">
              <a:buNone/>
            </a:pPr>
            <a:r>
              <a:rPr lang="en-IN" sz="1700" b="1" dirty="0">
                <a:solidFill>
                  <a:schemeClr val="tx1">
                    <a:alpha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Challenge:</a:t>
            </a:r>
            <a:r>
              <a:rPr lang="en-IN" sz="1700" dirty="0">
                <a:solidFill>
                  <a:schemeClr val="tx1">
                    <a:alpha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Process data reliably while catching and reporting errors clearly for operations team</a:t>
            </a:r>
          </a:p>
          <a:p>
            <a:endParaRPr lang="en-IN" sz="1700" dirty="0">
              <a:solidFill>
                <a:schemeClr val="tx1">
                  <a:alpha val="8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Graphic 10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36547" y="5751820"/>
            <a:ext cx="112426" cy="112426"/>
          </a:xfrm>
          <a:custGeom>
            <a:avLst/>
            <a:gdLst>
              <a:gd name="connsiteX0" fmla="*/ 112426 w 112426"/>
              <a:gd name="connsiteY0" fmla="*/ 56213 h 112426"/>
              <a:gd name="connsiteX1" fmla="*/ 56213 w 112426"/>
              <a:gd name="connsiteY1" fmla="*/ 112426 h 112426"/>
              <a:gd name="connsiteX2" fmla="*/ 0 w 112426"/>
              <a:gd name="connsiteY2" fmla="*/ 56213 h 112426"/>
              <a:gd name="connsiteX3" fmla="*/ 56213 w 112426"/>
              <a:gd name="connsiteY3" fmla="*/ 0 h 112426"/>
              <a:gd name="connsiteX4" fmla="*/ 112426 w 112426"/>
              <a:gd name="connsiteY4" fmla="*/ 56213 h 11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426" h="112426">
                <a:moveTo>
                  <a:pt x="112426" y="56213"/>
                </a:moveTo>
                <a:cubicBezTo>
                  <a:pt x="112426" y="87259"/>
                  <a:pt x="87259" y="112426"/>
                  <a:pt x="56213" y="112426"/>
                </a:cubicBezTo>
                <a:cubicBezTo>
                  <a:pt x="25167" y="112426"/>
                  <a:pt x="0" y="87259"/>
                  <a:pt x="0" y="56213"/>
                </a:cubicBezTo>
                <a:cubicBezTo>
                  <a:pt x="0" y="25167"/>
                  <a:pt x="25167" y="0"/>
                  <a:pt x="56213" y="0"/>
                </a:cubicBezTo>
                <a:cubicBezTo>
                  <a:pt x="87259" y="0"/>
                  <a:pt x="112426" y="25167"/>
                  <a:pt x="112426" y="56213"/>
                </a:cubicBezTo>
                <a:close/>
              </a:path>
            </a:pathLst>
          </a:custGeom>
          <a:solidFill>
            <a:schemeClr val="accent2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38127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97D31E-B433-6859-BB08-54E28A1CB0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High-Level Design</a:t>
            </a:r>
            <a:br>
              <a:rPr lang="en-US" sz="36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endParaRPr lang="en-US" sz="36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1B7123F9-74B4-808A-331C-A62C702D51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89730" y="643466"/>
            <a:ext cx="5955871" cy="5568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12403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B7649F-E0EE-A690-3E28-97E6E7AECC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68752" y="365127"/>
            <a:ext cx="5407152" cy="759585"/>
          </a:xfrm>
        </p:spPr>
        <p:txBody>
          <a:bodyPr/>
          <a:lstStyle/>
          <a:p>
            <a:r>
              <a:rPr lang="en-IN" b="1" dirty="0"/>
              <a:t>Azure Services Used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1A7E924-882E-4A33-76F8-84461905C6B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6354135"/>
              </p:ext>
            </p:extLst>
          </p:nvPr>
        </p:nvGraphicFramePr>
        <p:xfrm>
          <a:off x="680466" y="1335024"/>
          <a:ext cx="10468356" cy="2726436"/>
        </p:xfrm>
        <a:graphic>
          <a:graphicData uri="http://schemas.openxmlformats.org/drawingml/2006/table">
            <a:tbl>
              <a:tblPr/>
              <a:tblGrid>
                <a:gridCol w="3457956">
                  <a:extLst>
                    <a:ext uri="{9D8B030D-6E8A-4147-A177-3AD203B41FA5}">
                      <a16:colId xmlns:a16="http://schemas.microsoft.com/office/drawing/2014/main" val="2669608834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81978110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771603508"/>
                    </a:ext>
                  </a:extLst>
                </a:gridCol>
              </a:tblGrid>
              <a:tr h="229507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1000"/>
                        </a:spcBef>
                        <a:spcAft>
                          <a:spcPts val="1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1" dirty="0">
                          <a:solidFill>
                            <a:schemeClr val="tx1">
                              <a:alpha val="8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Technology Stack</a:t>
                      </a:r>
                    </a:p>
                  </a:txBody>
                  <a:tcPr marL="63500" marR="63500" marT="31750" marB="317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90000"/>
                        </a:lnSpc>
                        <a:spcBef>
                          <a:spcPts val="1000"/>
                        </a:spcBef>
                        <a:spcAft>
                          <a:spcPts val="1200"/>
                        </a:spcAft>
                        <a:buNone/>
                      </a:pPr>
                      <a:endParaRPr lang="en-IN" sz="1700" kern="1200" dirty="0">
                        <a:solidFill>
                          <a:schemeClr val="tx1">
                            <a:alpha val="80000"/>
                          </a:schemeClr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3500" marR="63500" marT="31750" marB="317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90000"/>
                        </a:lnSpc>
                        <a:spcBef>
                          <a:spcPts val="1000"/>
                        </a:spcBef>
                        <a:spcAft>
                          <a:spcPts val="1200"/>
                        </a:spcAft>
                        <a:buNone/>
                      </a:pPr>
                      <a:endParaRPr lang="en-IN" sz="1700" kern="1200" dirty="0">
                        <a:solidFill>
                          <a:schemeClr val="tx1">
                            <a:alpha val="80000"/>
                          </a:schemeClr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3500" marR="63500" marT="31750" marB="317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7350530"/>
                  </a:ext>
                </a:extLst>
              </a:tr>
              <a:tr h="229507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90000"/>
                        </a:lnSpc>
                        <a:spcBef>
                          <a:spcPts val="10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IN" sz="1700" b="1" kern="1200" dirty="0">
                          <a:solidFill>
                            <a:schemeClr val="tx1">
                              <a:alpha val="80000"/>
                            </a:schemeClr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Service</a:t>
                      </a:r>
                    </a:p>
                  </a:txBody>
                  <a:tcPr marL="63500" marR="63500" marT="31750" marB="317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90000"/>
                        </a:lnSpc>
                        <a:spcBef>
                          <a:spcPts val="10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IN" sz="1700" b="1" kern="1200" dirty="0">
                          <a:solidFill>
                            <a:schemeClr val="tx1">
                              <a:alpha val="80000"/>
                            </a:schemeClr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Purpose</a:t>
                      </a:r>
                    </a:p>
                  </a:txBody>
                  <a:tcPr marL="63500" marR="63500" marT="31750" marB="317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90000"/>
                        </a:lnSpc>
                        <a:spcBef>
                          <a:spcPts val="10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IN" sz="1700" b="1" kern="1200" dirty="0">
                          <a:solidFill>
                            <a:schemeClr val="tx1">
                              <a:alpha val="80000"/>
                            </a:schemeClr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Why Chosen</a:t>
                      </a:r>
                    </a:p>
                  </a:txBody>
                  <a:tcPr marL="63500" marR="63500" marT="31750" marB="317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7088816"/>
                  </a:ext>
                </a:extLst>
              </a:tr>
              <a:tr h="408967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90000"/>
                        </a:lnSpc>
                        <a:spcBef>
                          <a:spcPts val="10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IN" sz="1700" kern="1200" dirty="0">
                          <a:solidFill>
                            <a:schemeClr val="tx1">
                              <a:alpha val="80000"/>
                            </a:schemeClr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Azure Logic Apps (2x)</a:t>
                      </a:r>
                    </a:p>
                  </a:txBody>
                  <a:tcPr marL="63500" marR="63500" marT="31750" marB="317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90000"/>
                        </a:lnSpc>
                        <a:spcBef>
                          <a:spcPts val="10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IN" sz="1700" kern="1200" dirty="0">
                          <a:solidFill>
                            <a:schemeClr val="tx1">
                              <a:alpha val="80000"/>
                            </a:schemeClr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Orchestration &amp; transformation</a:t>
                      </a:r>
                    </a:p>
                  </a:txBody>
                  <a:tcPr marL="63500" marR="63500" marT="31750" marB="317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90000"/>
                        </a:lnSpc>
                        <a:spcBef>
                          <a:spcPts val="10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IN" sz="1700" kern="1200">
                          <a:solidFill>
                            <a:schemeClr val="tx1">
                              <a:alpha val="80000"/>
                            </a:schemeClr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Low-code, built-in connectors, visual workflow</a:t>
                      </a:r>
                    </a:p>
                  </a:txBody>
                  <a:tcPr marL="63500" marR="63500" marT="31750" marB="317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2566137"/>
                  </a:ext>
                </a:extLst>
              </a:tr>
              <a:tr h="408967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90000"/>
                        </a:lnSpc>
                        <a:spcBef>
                          <a:spcPts val="10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IN" sz="1700" kern="1200" dirty="0">
                          <a:solidFill>
                            <a:schemeClr val="tx1">
                              <a:alpha val="80000"/>
                            </a:schemeClr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Azure Service Bus Queue</a:t>
                      </a:r>
                    </a:p>
                  </a:txBody>
                  <a:tcPr marL="63500" marR="63500" marT="31750" marB="317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90000"/>
                        </a:lnSpc>
                        <a:spcBef>
                          <a:spcPts val="10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IN" sz="1700" kern="1200" dirty="0">
                          <a:solidFill>
                            <a:schemeClr val="tx1">
                              <a:alpha val="80000"/>
                            </a:schemeClr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Architectural boundary</a:t>
                      </a:r>
                    </a:p>
                  </a:txBody>
                  <a:tcPr marL="63500" marR="63500" marT="31750" marB="317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90000"/>
                        </a:lnSpc>
                        <a:spcBef>
                          <a:spcPts val="10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IN" sz="1700" kern="1200">
                          <a:solidFill>
                            <a:schemeClr val="tx1">
                              <a:alpha val="80000"/>
                            </a:schemeClr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Decouples transformation from output, reliable messaging</a:t>
                      </a:r>
                    </a:p>
                  </a:txBody>
                  <a:tcPr marL="63500" marR="63500" marT="31750" marB="317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398224"/>
                  </a:ext>
                </a:extLst>
              </a:tr>
              <a:tr h="408967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90000"/>
                        </a:lnSpc>
                        <a:spcBef>
                          <a:spcPts val="10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IN" sz="1700" kern="1200" dirty="0">
                          <a:solidFill>
                            <a:schemeClr val="tx1">
                              <a:alpha val="80000"/>
                            </a:schemeClr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Azure Blob Storage</a:t>
                      </a:r>
                    </a:p>
                  </a:txBody>
                  <a:tcPr marL="63500" marR="63500" marT="31750" marB="317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90000"/>
                        </a:lnSpc>
                        <a:spcBef>
                          <a:spcPts val="10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IN" sz="1700" kern="1200" dirty="0">
                          <a:solidFill>
                            <a:schemeClr val="tx1">
                              <a:alpha val="80000"/>
                            </a:schemeClr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Data storage</a:t>
                      </a:r>
                    </a:p>
                  </a:txBody>
                  <a:tcPr marL="63500" marR="63500" marT="31750" marB="317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90000"/>
                        </a:lnSpc>
                        <a:spcBef>
                          <a:spcPts val="10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IN" sz="1700" kern="1200" dirty="0">
                          <a:solidFill>
                            <a:schemeClr val="tx1">
                              <a:alpha val="80000"/>
                            </a:schemeClr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Cost-effective, simple file storage for input/output</a:t>
                      </a:r>
                    </a:p>
                  </a:txBody>
                  <a:tcPr marL="63500" marR="63500" marT="31750" marB="317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7545712"/>
                  </a:ext>
                </a:extLst>
              </a:tr>
              <a:tr h="408967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90000"/>
                        </a:lnSpc>
                        <a:spcBef>
                          <a:spcPts val="10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IN" sz="1700" kern="1200" dirty="0">
                          <a:solidFill>
                            <a:schemeClr val="tx1">
                              <a:alpha val="80000"/>
                            </a:schemeClr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HTTP Trigger</a:t>
                      </a:r>
                    </a:p>
                  </a:txBody>
                  <a:tcPr marL="63500" marR="63500" marT="31750" marB="317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90000"/>
                        </a:lnSpc>
                        <a:spcBef>
                          <a:spcPts val="10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IN" sz="1700" kern="1200" dirty="0">
                          <a:solidFill>
                            <a:schemeClr val="tx1">
                              <a:alpha val="80000"/>
                            </a:schemeClr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Testing interface</a:t>
                      </a:r>
                    </a:p>
                  </a:txBody>
                  <a:tcPr marL="63500" marR="63500" marT="31750" marB="317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90000"/>
                        </a:lnSpc>
                        <a:spcBef>
                          <a:spcPts val="10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IN" sz="1700" kern="1200" dirty="0">
                          <a:solidFill>
                            <a:schemeClr val="tx1">
                              <a:alpha val="80000"/>
                            </a:schemeClr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Easy manual testing during development</a:t>
                      </a:r>
                    </a:p>
                  </a:txBody>
                  <a:tcPr marL="63500" marR="63500" marT="31750" marB="317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165717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D273F1DB-4634-7E07-AF37-126656EB798B}"/>
              </a:ext>
            </a:extLst>
          </p:cNvPr>
          <p:cNvSpPr txBox="1"/>
          <p:nvPr/>
        </p:nvSpPr>
        <p:spPr>
          <a:xfrm>
            <a:off x="680466" y="4433110"/>
            <a:ext cx="9753600" cy="19025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50000"/>
              </a:lnSpc>
              <a:spcBef>
                <a:spcPts val="1000"/>
              </a:spcBef>
              <a:spcAft>
                <a:spcPts val="1200"/>
              </a:spcAft>
            </a:pPr>
            <a:r>
              <a:rPr lang="en-IN" sz="1700" b="1" dirty="0">
                <a:solidFill>
                  <a:schemeClr val="tx1">
                    <a:alpha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 Principles</a:t>
            </a:r>
          </a:p>
          <a:p>
            <a:pPr marL="285750" indent="-285750">
              <a:lnSpc>
                <a:spcPct val="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IN" sz="1700" dirty="0">
                <a:solidFill>
                  <a:schemeClr val="tx1">
                    <a:alpha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Separation of Concerns - Two Logic Apps with clear responsibilities</a:t>
            </a:r>
          </a:p>
          <a:p>
            <a:pPr marL="285750" indent="-285750">
              <a:lnSpc>
                <a:spcPct val="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IN" sz="1700" dirty="0">
                <a:solidFill>
                  <a:schemeClr val="tx1">
                    <a:alpha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Fail-Fast Validation - Invalid data never reaches Service Bus</a:t>
            </a:r>
          </a:p>
          <a:p>
            <a:pPr marL="285750" indent="-285750">
              <a:lnSpc>
                <a:spcPct val="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IN" sz="1700" dirty="0">
                <a:solidFill>
                  <a:schemeClr val="tx1">
                    <a:alpha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Sequential Processing - Prevents duplicate detection race conditions</a:t>
            </a:r>
          </a:p>
          <a:p>
            <a:pPr marL="285750" indent="-285750">
              <a:lnSpc>
                <a:spcPct val="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IN" sz="1700" dirty="0">
                <a:solidFill>
                  <a:schemeClr val="tx1">
                    <a:alpha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Clear Error Messages - Support staff can understand failures without code review</a:t>
            </a:r>
          </a:p>
        </p:txBody>
      </p:sp>
    </p:spTree>
    <p:extLst>
      <p:ext uri="{BB962C8B-B14F-4D97-AF65-F5344CB8AC3E}">
        <p14:creationId xmlns:p14="http://schemas.microsoft.com/office/powerpoint/2010/main" val="5805665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001CC5-C0F2-51CD-93D3-E8254F85B8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1864" y="218440"/>
            <a:ext cx="10515600" cy="1325563"/>
          </a:xfrm>
        </p:spPr>
        <p:txBody>
          <a:bodyPr/>
          <a:lstStyle/>
          <a:p>
            <a:r>
              <a:rPr lang="en-IN" b="1" dirty="0"/>
              <a:t>Data Transformation Logic</a:t>
            </a:r>
            <a:br>
              <a:rPr lang="en-IN" b="1" dirty="0"/>
            </a:b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25147E9-BFAA-1FA5-5140-1E232567D42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95547673"/>
              </p:ext>
            </p:extLst>
          </p:nvPr>
        </p:nvGraphicFramePr>
        <p:xfrm>
          <a:off x="968883" y="1131042"/>
          <a:ext cx="10515600" cy="225806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24107084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992277487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903674571"/>
                    </a:ext>
                  </a:extLst>
                </a:gridCol>
              </a:tblGrid>
              <a:tr h="0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700" b="1" dirty="0">
                          <a:solidFill>
                            <a:schemeClr val="tx1">
                              <a:alpha val="8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Source to Target Mapping </a:t>
                      </a:r>
                    </a:p>
                  </a:txBody>
                  <a:tcPr marL="63500" marR="63500" marT="31750" marB="317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>
                        <a:buNone/>
                      </a:pPr>
                      <a:endParaRPr lang="en-IN" sz="1700" b="1" kern="1200">
                        <a:solidFill>
                          <a:schemeClr val="tx1">
                            <a:alpha val="8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0" marR="63500" marT="31750" marB="317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>
                        <a:buNone/>
                      </a:pPr>
                      <a:endParaRPr lang="en-IN" sz="1700" b="1" kern="1200" dirty="0">
                        <a:solidFill>
                          <a:schemeClr val="tx1">
                            <a:alpha val="8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0" marR="63500" marT="31750" marB="317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38660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700" b="1" kern="1200" dirty="0">
                          <a:solidFill>
                            <a:schemeClr val="tx1">
                              <a:alpha val="8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Source Field</a:t>
                      </a:r>
                    </a:p>
                  </a:txBody>
                  <a:tcPr marL="63500" marR="63500" marT="31750" marB="317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700" b="1" kern="1200">
                          <a:solidFill>
                            <a:schemeClr val="tx1">
                              <a:alpha val="8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Target Field</a:t>
                      </a:r>
                    </a:p>
                  </a:txBody>
                  <a:tcPr marL="63500" marR="63500" marT="31750" marB="317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700" b="1" kern="1200" dirty="0">
                          <a:solidFill>
                            <a:schemeClr val="tx1">
                              <a:alpha val="8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Transformation</a:t>
                      </a:r>
                    </a:p>
                  </a:txBody>
                  <a:tcPr marL="63500" marR="63500" marT="31750" marB="317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1954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700" kern="1200" dirty="0" err="1">
                          <a:solidFill>
                            <a:schemeClr val="tx1">
                              <a:alpha val="8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student_id</a:t>
                      </a:r>
                      <a:endParaRPr lang="en-IN" sz="1700" kern="1200" dirty="0">
                        <a:solidFill>
                          <a:schemeClr val="tx1">
                            <a:alpha val="8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0" marR="63500" marT="31750" marB="317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700" kern="1200" dirty="0" err="1">
                          <a:solidFill>
                            <a:schemeClr val="tx1">
                              <a:alpha val="8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studentNumber</a:t>
                      </a:r>
                      <a:endParaRPr lang="en-IN" sz="1700" kern="1200" dirty="0">
                        <a:solidFill>
                          <a:schemeClr val="tx1">
                            <a:alpha val="8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0" marR="63500" marT="31750" marB="317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700" kern="1200" dirty="0">
                          <a:solidFill>
                            <a:schemeClr val="tx1">
                              <a:alpha val="8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Direct mapping</a:t>
                      </a:r>
                    </a:p>
                  </a:txBody>
                  <a:tcPr marL="63500" marR="63500" marT="31750" marB="317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52000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700" kern="1200" dirty="0">
                          <a:solidFill>
                            <a:schemeClr val="tx1">
                              <a:alpha val="8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forename + surname</a:t>
                      </a:r>
                    </a:p>
                  </a:txBody>
                  <a:tcPr marL="63500" marR="63500" marT="31750" marB="317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700" kern="1200" dirty="0" err="1">
                          <a:solidFill>
                            <a:schemeClr val="tx1">
                              <a:alpha val="8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fullName</a:t>
                      </a:r>
                      <a:endParaRPr lang="en-IN" sz="1700" kern="1200" dirty="0">
                        <a:solidFill>
                          <a:schemeClr val="tx1">
                            <a:alpha val="8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0" marR="63500" marT="31750" marB="317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700" kern="1200" dirty="0">
                          <a:solidFill>
                            <a:schemeClr val="tx1">
                              <a:alpha val="8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Concatenate with space</a:t>
                      </a:r>
                    </a:p>
                  </a:txBody>
                  <a:tcPr marL="63500" marR="63500" marT="31750" marB="317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47133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700" kern="1200" dirty="0" err="1">
                          <a:solidFill>
                            <a:schemeClr val="tx1">
                              <a:alpha val="8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email_address</a:t>
                      </a:r>
                      <a:endParaRPr lang="en-IN" sz="1700" kern="1200" dirty="0">
                        <a:solidFill>
                          <a:schemeClr val="tx1">
                            <a:alpha val="8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0" marR="63500" marT="31750" marB="317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700" kern="1200" dirty="0">
                          <a:solidFill>
                            <a:schemeClr val="tx1">
                              <a:alpha val="8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email</a:t>
                      </a:r>
                    </a:p>
                  </a:txBody>
                  <a:tcPr marL="63500" marR="63500" marT="31750" marB="317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700" kern="1200">
                          <a:solidFill>
                            <a:schemeClr val="tx1">
                              <a:alpha val="8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Direct mapping</a:t>
                      </a:r>
                    </a:p>
                  </a:txBody>
                  <a:tcPr marL="63500" marR="63500" marT="31750" marB="317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9021382"/>
                  </a:ext>
                </a:extLst>
              </a:tr>
              <a:tr h="19940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700" kern="1200" dirty="0">
                          <a:solidFill>
                            <a:schemeClr val="tx1">
                              <a:alpha val="8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course</a:t>
                      </a:r>
                    </a:p>
                  </a:txBody>
                  <a:tcPr marL="63500" marR="63500" marT="31750" marB="317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700" kern="1200" dirty="0" err="1">
                          <a:solidFill>
                            <a:schemeClr val="tx1">
                              <a:alpha val="8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courseCode</a:t>
                      </a:r>
                      <a:endParaRPr lang="en-IN" sz="1700" kern="1200" dirty="0">
                        <a:solidFill>
                          <a:schemeClr val="tx1">
                            <a:alpha val="8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0" marR="63500" marT="31750" marB="317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700" kern="1200" dirty="0">
                          <a:solidFill>
                            <a:schemeClr val="tx1">
                              <a:alpha val="8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Lookup translation</a:t>
                      </a:r>
                    </a:p>
                  </a:txBody>
                  <a:tcPr marL="63500" marR="63500" marT="31750" marB="317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45937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700" kern="1200" dirty="0">
                          <a:solidFill>
                            <a:schemeClr val="tx1">
                              <a:alpha val="8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N/A</a:t>
                      </a:r>
                    </a:p>
                  </a:txBody>
                  <a:tcPr marL="63500" marR="63500" marT="31750" marB="317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700" kern="1200">
                          <a:solidFill>
                            <a:schemeClr val="tx1">
                              <a:alpha val="8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status</a:t>
                      </a:r>
                    </a:p>
                  </a:txBody>
                  <a:tcPr marL="63500" marR="63500" marT="31750" marB="317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700" kern="1200" dirty="0">
                          <a:solidFill>
                            <a:schemeClr val="tx1">
                              <a:alpha val="8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Always "Active"</a:t>
                      </a:r>
                    </a:p>
                  </a:txBody>
                  <a:tcPr marL="63500" marR="63500" marT="31750" marB="317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8882263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15F01716-1D10-8DA0-D7DE-2ADA794CAC69}"/>
              </a:ext>
            </a:extLst>
          </p:cNvPr>
          <p:cNvSpPr txBox="1"/>
          <p:nvPr/>
        </p:nvSpPr>
        <p:spPr>
          <a:xfrm>
            <a:off x="877443" y="4093940"/>
            <a:ext cx="3328797" cy="22082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l">
              <a:spcBef>
                <a:spcPts val="1800"/>
              </a:spcBef>
              <a:spcAft>
                <a:spcPts val="1200"/>
              </a:spcAft>
              <a:buNone/>
            </a:pPr>
            <a:r>
              <a:rPr lang="en-IN" sz="1700" dirty="0">
                <a:solidFill>
                  <a:schemeClr val="tx1">
                    <a:alpha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Course Code Translation</a:t>
            </a:r>
          </a:p>
          <a:p>
            <a:pPr indent="0" algn="l">
              <a:buNone/>
            </a:pPr>
            <a:r>
              <a:rPr lang="en-IN" sz="1700" dirty="0">
                <a:solidFill>
                  <a:schemeClr val="tx1">
                    <a:alpha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indent="0" algn="l">
              <a:buNone/>
            </a:pPr>
            <a:r>
              <a:rPr lang="en-IN" sz="1700" dirty="0">
                <a:solidFill>
                  <a:schemeClr val="tx1">
                    <a:alpha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"BSc Computer Science": "BCS",</a:t>
            </a:r>
          </a:p>
          <a:p>
            <a:pPr indent="0" algn="l">
              <a:buNone/>
            </a:pPr>
            <a:r>
              <a:rPr lang="en-IN" sz="1700" dirty="0">
                <a:solidFill>
                  <a:schemeClr val="tx1">
                    <a:alpha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"BSc Business Studies": "BBS",</a:t>
            </a:r>
          </a:p>
          <a:p>
            <a:pPr indent="0" algn="l">
              <a:buNone/>
            </a:pPr>
            <a:r>
              <a:rPr lang="en-IN" sz="1700" dirty="0">
                <a:solidFill>
                  <a:schemeClr val="tx1">
                    <a:alpha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"BSc Psychology": "BPS"</a:t>
            </a:r>
          </a:p>
          <a:p>
            <a:pPr indent="0" algn="l">
              <a:buNone/>
            </a:pPr>
            <a:r>
              <a:rPr lang="en-IN" sz="1700" dirty="0">
                <a:solidFill>
                  <a:schemeClr val="tx1">
                    <a:alpha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indent="0" algn="l">
              <a:spcBef>
                <a:spcPts val="1800"/>
              </a:spcBef>
              <a:spcAft>
                <a:spcPts val="1200"/>
              </a:spcAft>
              <a:buNone/>
            </a:pPr>
            <a:endParaRPr lang="en-IN" sz="1050" b="0" i="0" dirty="0">
              <a:solidFill>
                <a:srgbClr val="BBBEBF"/>
              </a:solidFill>
              <a:effectLst/>
              <a:latin typeface="Courier New" panose="020703090202050204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C03F4AF-5FEB-9BB0-63A0-4623A508728F}"/>
              </a:ext>
            </a:extLst>
          </p:cNvPr>
          <p:cNvSpPr txBox="1"/>
          <p:nvPr/>
        </p:nvSpPr>
        <p:spPr>
          <a:xfrm>
            <a:off x="4372356" y="4093940"/>
            <a:ext cx="3447288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800"/>
              </a:spcBef>
              <a:spcAft>
                <a:spcPts val="1200"/>
              </a:spcAft>
            </a:pPr>
            <a:r>
              <a:rPr lang="en-IN" sz="1700" dirty="0">
                <a:solidFill>
                  <a:schemeClr val="tx1">
                    <a:alpha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Input:</a:t>
            </a:r>
          </a:p>
          <a:p>
            <a:r>
              <a:rPr lang="en-IN" sz="1700" dirty="0">
                <a:solidFill>
                  <a:schemeClr val="tx1">
                    <a:alpha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r>
              <a:rPr lang="en-IN" sz="1700" dirty="0">
                <a:solidFill>
                  <a:schemeClr val="tx1">
                    <a:alpha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"</a:t>
            </a:r>
            <a:r>
              <a:rPr lang="en-IN" sz="1700" dirty="0" err="1">
                <a:solidFill>
                  <a:schemeClr val="tx1">
                    <a:alpha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student_id</a:t>
            </a:r>
            <a:r>
              <a:rPr lang="en-IN" sz="1700" dirty="0">
                <a:solidFill>
                  <a:schemeClr val="tx1">
                    <a:alpha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": "10001",</a:t>
            </a:r>
          </a:p>
          <a:p>
            <a:r>
              <a:rPr lang="en-IN" sz="1700" dirty="0">
                <a:solidFill>
                  <a:schemeClr val="tx1">
                    <a:alpha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"forename": "Jane",</a:t>
            </a:r>
          </a:p>
          <a:p>
            <a:r>
              <a:rPr lang="en-IN" sz="1700" dirty="0">
                <a:solidFill>
                  <a:schemeClr val="tx1">
                    <a:alpha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"surname": "Smith",</a:t>
            </a:r>
          </a:p>
          <a:p>
            <a:r>
              <a:rPr lang="en-IN" sz="1700" dirty="0">
                <a:solidFill>
                  <a:schemeClr val="tx1">
                    <a:alpha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"course": "BSc Computer Science",</a:t>
            </a:r>
          </a:p>
          <a:p>
            <a:r>
              <a:rPr lang="en-IN" sz="1700" dirty="0">
                <a:solidFill>
                  <a:schemeClr val="tx1">
                    <a:alpha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"</a:t>
            </a:r>
            <a:r>
              <a:rPr lang="en-IN" sz="1700" dirty="0" err="1">
                <a:solidFill>
                  <a:schemeClr val="tx1">
                    <a:alpha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email_address</a:t>
            </a:r>
            <a:r>
              <a:rPr lang="en-IN" sz="1700" dirty="0">
                <a:solidFill>
                  <a:schemeClr val="tx1">
                    <a:alpha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": "j.smith@uni.ac.uk"</a:t>
            </a:r>
          </a:p>
          <a:p>
            <a:r>
              <a:rPr lang="en-IN" sz="1700" dirty="0">
                <a:solidFill>
                  <a:schemeClr val="tx1">
                    <a:alpha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639F8E9-47BA-04F4-B546-4755D59EBC88}"/>
              </a:ext>
            </a:extLst>
          </p:cNvPr>
          <p:cNvSpPr txBox="1"/>
          <p:nvPr/>
        </p:nvSpPr>
        <p:spPr>
          <a:xfrm>
            <a:off x="8251698" y="4093940"/>
            <a:ext cx="3062859" cy="23391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en-IN" sz="1700" dirty="0">
                <a:solidFill>
                  <a:schemeClr val="tx1">
                    <a:alpha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</a:p>
          <a:p>
            <a:r>
              <a:rPr lang="en-IN" sz="1700" dirty="0">
                <a:solidFill>
                  <a:schemeClr val="tx1">
                    <a:alpha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r>
              <a:rPr lang="en-IN" sz="1700" dirty="0">
                <a:solidFill>
                  <a:schemeClr val="tx1">
                    <a:alpha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"</a:t>
            </a:r>
            <a:r>
              <a:rPr lang="en-IN" sz="1700" dirty="0" err="1">
                <a:solidFill>
                  <a:schemeClr val="tx1">
                    <a:alpha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studentNumber</a:t>
            </a:r>
            <a:r>
              <a:rPr lang="en-IN" sz="1700" dirty="0">
                <a:solidFill>
                  <a:schemeClr val="tx1">
                    <a:alpha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": "10001",</a:t>
            </a:r>
          </a:p>
          <a:p>
            <a:r>
              <a:rPr lang="en-IN" sz="1700" dirty="0">
                <a:solidFill>
                  <a:schemeClr val="tx1">
                    <a:alpha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"</a:t>
            </a:r>
            <a:r>
              <a:rPr lang="en-IN" sz="1700" dirty="0" err="1">
                <a:solidFill>
                  <a:schemeClr val="tx1">
                    <a:alpha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fullName</a:t>
            </a:r>
            <a:r>
              <a:rPr lang="en-IN" sz="1700" dirty="0">
                <a:solidFill>
                  <a:schemeClr val="tx1">
                    <a:alpha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": "Jane Smith",</a:t>
            </a:r>
          </a:p>
          <a:p>
            <a:r>
              <a:rPr lang="en-IN" sz="1700" dirty="0">
                <a:solidFill>
                  <a:schemeClr val="tx1">
                    <a:alpha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"</a:t>
            </a:r>
            <a:r>
              <a:rPr lang="en-IN" sz="1700" dirty="0" err="1">
                <a:solidFill>
                  <a:schemeClr val="tx1">
                    <a:alpha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courseCode</a:t>
            </a:r>
            <a:r>
              <a:rPr lang="en-IN" sz="1700" dirty="0">
                <a:solidFill>
                  <a:schemeClr val="tx1">
                    <a:alpha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": "BCS",</a:t>
            </a:r>
          </a:p>
          <a:p>
            <a:r>
              <a:rPr lang="en-IN" sz="1700" dirty="0">
                <a:solidFill>
                  <a:schemeClr val="tx1">
                    <a:alpha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"email": "j.smith@uni.ac.uk",</a:t>
            </a:r>
          </a:p>
          <a:p>
            <a:r>
              <a:rPr lang="en-IN" sz="1700" dirty="0">
                <a:solidFill>
                  <a:schemeClr val="tx1">
                    <a:alpha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"status": "Active"</a:t>
            </a:r>
          </a:p>
          <a:p>
            <a:r>
              <a:rPr lang="en-IN" sz="1700" dirty="0">
                <a:solidFill>
                  <a:schemeClr val="tx1">
                    <a:alpha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1379098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22101E-2D74-CAD0-76A0-D29052F403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7132"/>
            <a:ext cx="10515600" cy="801303"/>
          </a:xfrm>
        </p:spPr>
        <p:txBody>
          <a:bodyPr>
            <a:normAutofit/>
          </a:bodyPr>
          <a:lstStyle/>
          <a:p>
            <a:pPr algn="ctr"/>
            <a:r>
              <a:rPr lang="en-IN" b="1" dirty="0"/>
              <a:t>Validation &amp; Exception Handling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5DE674-09C8-75AA-D637-2C894463E3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67257"/>
            <a:ext cx="5016246" cy="513295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Multi-Layer Validation Strategy</a:t>
            </a:r>
          </a:p>
          <a:p>
            <a:pPr marL="0" indent="0"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Duplicate Detection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Filter Array checks if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student_id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already processed</a:t>
            </a:r>
          </a:p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Sequential processing prevents race conditions</a:t>
            </a:r>
          </a:p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 occurrence wins</a:t>
            </a:r>
          </a:p>
          <a:p>
            <a:pPr marL="0" indent="0"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Mandatory Field Validation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student_id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forename, surname,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email_address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Empty strings treated as missing</a:t>
            </a:r>
          </a:p>
          <a:p>
            <a:pPr marL="0" indent="0"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Email Format Validation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Must contain '@' character</a:t>
            </a:r>
          </a:p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Must contain '.' after '@'</a:t>
            </a:r>
          </a:p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format check (not full regex)</a:t>
            </a:r>
          </a:p>
          <a:p>
            <a:pPr marL="0" indent="0"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Course Mapping Validation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 name must exactly match mapping table</a:t>
            </a:r>
          </a:p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fuzzy matching or abbreviations</a:t>
            </a:r>
          </a:p>
          <a:p>
            <a:endParaRPr lang="en-IN" sz="1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070AA1C-70A6-F3EB-53F1-6DBED528D188}"/>
              </a:ext>
            </a:extLst>
          </p:cNvPr>
          <p:cNvSpPr txBox="1"/>
          <p:nvPr/>
        </p:nvSpPr>
        <p:spPr>
          <a:xfrm>
            <a:off x="5854446" y="1166428"/>
            <a:ext cx="6094476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IN" b="1" dirty="0"/>
              <a:t>Exception Handling Approach</a:t>
            </a:r>
          </a:p>
          <a:p>
            <a:r>
              <a:rPr lang="en-IN" b="1" dirty="0"/>
              <a:t>Fail-Fast:</a:t>
            </a:r>
            <a:r>
              <a:rPr lang="en-IN" dirty="0"/>
              <a:t> Invalid records never reach Service Bus</a:t>
            </a:r>
            <a:br>
              <a:rPr lang="en-IN" dirty="0"/>
            </a:br>
            <a:r>
              <a:rPr lang="en-IN" b="1" dirty="0"/>
              <a:t>Detailed Logging:</a:t>
            </a:r>
            <a:r>
              <a:rPr lang="en-IN" dirty="0"/>
              <a:t> Each error includes original data + reason</a:t>
            </a:r>
            <a:br>
              <a:rPr lang="en-IN" dirty="0"/>
            </a:br>
            <a:r>
              <a:rPr lang="en-IN" b="1" dirty="0"/>
              <a:t>Operational Support:</a:t>
            </a:r>
            <a:r>
              <a:rPr lang="en-IN" dirty="0"/>
              <a:t> Clear error messages for non-technical staff</a:t>
            </a:r>
            <a:br>
              <a:rPr lang="en-IN" dirty="0"/>
            </a:br>
            <a:r>
              <a:rPr lang="en-IN" b="1" dirty="0"/>
              <a:t>Audit Trail:</a:t>
            </a:r>
            <a:r>
              <a:rPr lang="en-IN" dirty="0"/>
              <a:t> All errors in timestamped JSON file</a:t>
            </a:r>
          </a:p>
          <a:p>
            <a:endParaRPr lang="en-IN" b="1" dirty="0"/>
          </a:p>
          <a:p>
            <a:r>
              <a:rPr lang="en-IN" b="1" dirty="0"/>
              <a:t>Error Report Example:</a:t>
            </a:r>
            <a:endParaRPr lang="en-IN" dirty="0"/>
          </a:p>
          <a:p>
            <a:r>
              <a:rPr lang="en-IN" dirty="0"/>
              <a:t>{</a:t>
            </a:r>
          </a:p>
          <a:p>
            <a:r>
              <a:rPr lang="en-IN" dirty="0"/>
              <a:t>  "</a:t>
            </a:r>
            <a:r>
              <a:rPr lang="en-IN" dirty="0" err="1"/>
              <a:t>student_id</a:t>
            </a:r>
            <a:r>
              <a:rPr lang="en-IN" dirty="0"/>
              <a:t>": "10011",</a:t>
            </a:r>
          </a:p>
          <a:p>
            <a:r>
              <a:rPr lang="en-IN" dirty="0"/>
              <a:t>  "forename": "Sarah",</a:t>
            </a:r>
          </a:p>
          <a:p>
            <a:r>
              <a:rPr lang="en-IN" dirty="0"/>
              <a:t>  "surname": "Green",</a:t>
            </a:r>
          </a:p>
          <a:p>
            <a:r>
              <a:rPr lang="en-IN" dirty="0"/>
              <a:t>  "course": "BSc Comp Sci",</a:t>
            </a:r>
          </a:p>
          <a:p>
            <a:r>
              <a:rPr lang="en-IN" dirty="0"/>
              <a:t>  "</a:t>
            </a:r>
            <a:r>
              <a:rPr lang="en-IN" dirty="0" err="1"/>
              <a:t>email_address</a:t>
            </a:r>
            <a:r>
              <a:rPr lang="en-IN" dirty="0"/>
              <a:t>": "s.green@uni.ac.uk",</a:t>
            </a:r>
          </a:p>
          <a:p>
            <a:r>
              <a:rPr lang="en-IN" dirty="0"/>
              <a:t>  "reason": "Unknown course mapping: BSc Comp Sci",</a:t>
            </a:r>
          </a:p>
          <a:p>
            <a:r>
              <a:rPr lang="en-IN" dirty="0"/>
              <a:t>  "timestamp": "2026-09-01T21:21:11Z"</a:t>
            </a:r>
          </a:p>
          <a:p>
            <a:r>
              <a:rPr lang="en-I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873586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BE2E7F-ACF9-0B10-C714-DCE12B9075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91005"/>
          </a:xfrm>
        </p:spPr>
        <p:txBody>
          <a:bodyPr/>
          <a:lstStyle/>
          <a:p>
            <a:pPr algn="ctr"/>
            <a:r>
              <a:rPr lang="en-IN" b="1" dirty="0"/>
              <a:t>Data Quality Issues Found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100E342-0422-AEFF-26A7-DD44D20F93F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9710729"/>
              </p:ext>
            </p:extLst>
          </p:nvPr>
        </p:nvGraphicFramePr>
        <p:xfrm>
          <a:off x="836676" y="4389120"/>
          <a:ext cx="10515600" cy="1884711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1270594734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38598399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414500439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504265752"/>
                    </a:ext>
                  </a:extLst>
                </a:gridCol>
              </a:tblGrid>
              <a:tr h="248443"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buNone/>
                      </a:pPr>
                      <a:r>
                        <a:rPr lang="en-IN" sz="16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Student ID</a:t>
                      </a:r>
                    </a:p>
                  </a:txBody>
                  <a:tcPr marL="63500" marR="63500" marT="31750" marB="317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buNone/>
                      </a:pPr>
                      <a:r>
                        <a:rPr lang="en-IN" sz="16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Name</a:t>
                      </a:r>
                    </a:p>
                  </a:txBody>
                  <a:tcPr marL="63500" marR="63500" marT="31750" marB="317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buNone/>
                      </a:pPr>
                      <a:r>
                        <a:rPr lang="en-IN" sz="16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Issue</a:t>
                      </a:r>
                    </a:p>
                  </a:txBody>
                  <a:tcPr marL="63500" marR="63500" marT="31750" marB="317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buNone/>
                      </a:pPr>
                      <a:r>
                        <a:rPr lang="en-IN" sz="16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Reason</a:t>
                      </a:r>
                    </a:p>
                  </a:txBody>
                  <a:tcPr marL="63500" marR="63500" marT="31750" marB="317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645344"/>
                  </a:ext>
                </a:extLst>
              </a:tr>
              <a:tr h="248443"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buNone/>
                      </a:pPr>
                      <a:r>
                        <a:rPr lang="en-IN" sz="16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10011</a:t>
                      </a:r>
                    </a:p>
                  </a:txBody>
                  <a:tcPr marL="63500" marR="63500" marT="31750" marB="317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buNone/>
                      </a:pPr>
                      <a:r>
                        <a:rPr lang="en-IN" sz="16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Sarah Green</a:t>
                      </a:r>
                    </a:p>
                  </a:txBody>
                  <a:tcPr marL="63500" marR="63500" marT="31750" marB="317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buNone/>
                      </a:pPr>
                      <a:r>
                        <a:rPr lang="en-IN" sz="16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Unknown Course</a:t>
                      </a:r>
                    </a:p>
                  </a:txBody>
                  <a:tcPr marL="63500" marR="63500" marT="31750" marB="317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buNone/>
                      </a:pPr>
                      <a:r>
                        <a:rPr lang="en-IN" sz="16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"BSc Comp Sci" ≠ "BSc Computer Science"</a:t>
                      </a:r>
                    </a:p>
                  </a:txBody>
                  <a:tcPr marL="63500" marR="63500" marT="31750" marB="317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5734425"/>
                  </a:ext>
                </a:extLst>
              </a:tr>
              <a:tr h="313975"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buNone/>
                      </a:pPr>
                      <a:r>
                        <a:rPr lang="en-IN" sz="16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10012</a:t>
                      </a:r>
                    </a:p>
                  </a:txBody>
                  <a:tcPr marL="63500" marR="63500" marT="31750" marB="317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buNone/>
                      </a:pPr>
                      <a:r>
                        <a:rPr lang="en-IN" sz="16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Ava Walker</a:t>
                      </a:r>
                    </a:p>
                  </a:txBody>
                  <a:tcPr marL="63500" marR="63500" marT="31750" marB="317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buNone/>
                      </a:pPr>
                      <a:r>
                        <a:rPr lang="en-IN" sz="16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Missing Data</a:t>
                      </a:r>
                    </a:p>
                  </a:txBody>
                  <a:tcPr marL="63500" marR="63500" marT="31750" marB="317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buNone/>
                      </a:pPr>
                      <a:r>
                        <a:rPr lang="en-IN" sz="16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Email address is empty string</a:t>
                      </a:r>
                    </a:p>
                  </a:txBody>
                  <a:tcPr marL="63500" marR="63500" marT="31750" marB="317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3468943"/>
                  </a:ext>
                </a:extLst>
              </a:tr>
              <a:tr h="248443"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buNone/>
                      </a:pPr>
                      <a:r>
                        <a:rPr lang="en-IN" sz="16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10013</a:t>
                      </a:r>
                    </a:p>
                  </a:txBody>
                  <a:tcPr marL="63500" marR="63500" marT="31750" marB="317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buNone/>
                      </a:pPr>
                      <a:r>
                        <a:rPr lang="en-IN" sz="16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Mitchell</a:t>
                      </a:r>
                    </a:p>
                  </a:txBody>
                  <a:tcPr marL="63500" marR="63500" marT="31750" marB="317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buNone/>
                      </a:pPr>
                      <a:r>
                        <a:rPr lang="en-IN" sz="16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Missing Data</a:t>
                      </a:r>
                    </a:p>
                  </a:txBody>
                  <a:tcPr marL="63500" marR="63500" marT="31750" marB="317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buNone/>
                      </a:pPr>
                      <a:r>
                        <a:rPr lang="en-IN" sz="16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Forename field is empty</a:t>
                      </a:r>
                    </a:p>
                  </a:txBody>
                  <a:tcPr marL="63500" marR="63500" marT="31750" marB="317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5934291"/>
                  </a:ext>
                </a:extLst>
              </a:tr>
              <a:tr h="248443"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buNone/>
                      </a:pPr>
                      <a:r>
                        <a:rPr lang="en-IN" sz="16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10004</a:t>
                      </a:r>
                    </a:p>
                  </a:txBody>
                  <a:tcPr marL="63500" marR="63500" marT="31750" marB="317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buNone/>
                      </a:pPr>
                      <a:r>
                        <a:rPr lang="en-IN" sz="16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David Turner</a:t>
                      </a:r>
                    </a:p>
                  </a:txBody>
                  <a:tcPr marL="63500" marR="63500" marT="31750" marB="317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buNone/>
                      </a:pPr>
                      <a:r>
                        <a:rPr lang="en-IN" sz="16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Duplicate</a:t>
                      </a:r>
                    </a:p>
                  </a:txBody>
                  <a:tcPr marL="63500" marR="63500" marT="31750" marB="317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buNone/>
                      </a:pPr>
                      <a:r>
                        <a:rPr lang="en-IN" sz="1600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student_id</a:t>
                      </a:r>
                      <a:r>
                        <a:rPr lang="en-IN" sz="16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already processed (Daniel Taylor)</a:t>
                      </a:r>
                    </a:p>
                  </a:txBody>
                  <a:tcPr marL="63500" marR="63500" marT="31750" marB="317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617074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7FA98DF9-5BEE-1F96-D500-9C1EB19B6984}"/>
              </a:ext>
            </a:extLst>
          </p:cNvPr>
          <p:cNvSpPr txBox="1"/>
          <p:nvPr/>
        </p:nvSpPr>
        <p:spPr>
          <a:xfrm>
            <a:off x="982980" y="1256130"/>
            <a:ext cx="8305038" cy="2683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l">
              <a:spcBef>
                <a:spcPts val="1800"/>
              </a:spcBef>
              <a:spcAft>
                <a:spcPts val="1200"/>
              </a:spcAft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Sample Dataset Analysis: 14 Records</a:t>
            </a:r>
          </a:p>
          <a:p>
            <a:pPr indent="0" algn="l">
              <a:spcAft>
                <a:spcPts val="1200"/>
              </a:spcAft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 Valid Records - Successfully transformed and sent to Service Bus</a:t>
            </a:r>
          </a:p>
          <a:p>
            <a:pPr indent="0" algn="l">
              <a:spcAft>
                <a:spcPts val="1200"/>
              </a:spcAft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 Invalid Records:</a:t>
            </a:r>
          </a:p>
          <a:p>
            <a:pPr>
              <a:lnSpc>
                <a:spcPct val="90000"/>
              </a:lnSpc>
              <a:spcBef>
                <a:spcPts val="1000"/>
              </a:spcBef>
              <a:spcAft>
                <a:spcPts val="1200"/>
              </a:spcAft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Handling Decisions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Exact Matching: Course names must match exactly - no abbreviations accepted</a:t>
            </a:r>
            <a:b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Duplicate Strategy: First occurrence processed, subsequent duplicates rejected</a:t>
            </a:r>
            <a:b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Empty vs Missing: Both treated as validation failures</a:t>
            </a:r>
          </a:p>
        </p:txBody>
      </p:sp>
    </p:spTree>
    <p:extLst>
      <p:ext uri="{BB962C8B-B14F-4D97-AF65-F5344CB8AC3E}">
        <p14:creationId xmlns:p14="http://schemas.microsoft.com/office/powerpoint/2010/main" val="35119571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C0C56F-5163-1468-01AC-2569294B79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 Testing Evidence &amp; Results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07D306C-9535-F9CE-4E0F-1C5BF4795E8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84173803"/>
              </p:ext>
            </p:extLst>
          </p:nvPr>
        </p:nvGraphicFramePr>
        <p:xfrm>
          <a:off x="838200" y="1533049"/>
          <a:ext cx="10515600" cy="2236216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3237915914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200310055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188030502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504144712"/>
                    </a:ext>
                  </a:extLst>
                </a:gridCol>
              </a:tblGrid>
              <a:tr h="0"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I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Test Scenarios Executed</a:t>
                      </a:r>
                    </a:p>
                  </a:txBody>
                  <a:tcPr marL="63500" marR="63500" marT="31750" marB="317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228600" lvl="0" indent="-228600" algn="l" defTabSz="914400" rtl="0" eaLnBrk="1" latinLnBrk="0" hangingPunct="1"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buChar char="•"/>
                      </a:pPr>
                      <a:endParaRPr lang="en-IN" sz="14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3500" marR="63500" marT="31750" marB="317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228600" lvl="0" indent="-228600" algn="l" defTabSz="914400" rtl="0" eaLnBrk="1" latinLnBrk="0" hangingPunct="1"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buChar char="•"/>
                      </a:pPr>
                      <a:endParaRPr lang="en-IN" sz="14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3500" marR="63500" marT="31750" marB="317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228600" lvl="0" indent="-228600" algn="l" defTabSz="914400" rtl="0" eaLnBrk="1" latinLnBrk="0" hangingPunct="1"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buChar char="•"/>
                      </a:pPr>
                      <a:endParaRPr lang="en-IN" sz="14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3500" marR="63500" marT="31750" marB="317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13201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defTabSz="914400" rtl="0" eaLnBrk="1" latinLnBrk="0" hangingPunct="1"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buNone/>
                      </a:pPr>
                      <a:r>
                        <a:rPr lang="en-IN" sz="14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Test Case</a:t>
                      </a:r>
                    </a:p>
                  </a:txBody>
                  <a:tcPr marL="63500" marR="63500" marT="31750" marB="317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defTabSz="914400" rtl="0" eaLnBrk="1" latinLnBrk="0" hangingPunct="1"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buNone/>
                      </a:pPr>
                      <a:r>
                        <a:rPr lang="en-IN" sz="14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Input</a:t>
                      </a:r>
                    </a:p>
                  </a:txBody>
                  <a:tcPr marL="63500" marR="63500" marT="31750" marB="317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defTabSz="914400" rtl="0" eaLnBrk="1" latinLnBrk="0" hangingPunct="1"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buNone/>
                      </a:pPr>
                      <a:r>
                        <a:rPr lang="en-IN" sz="14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Expected Result</a:t>
                      </a:r>
                    </a:p>
                  </a:txBody>
                  <a:tcPr marL="63500" marR="63500" marT="31750" marB="317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defTabSz="914400" rtl="0" eaLnBrk="1" latinLnBrk="0" hangingPunct="1"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buNone/>
                      </a:pPr>
                      <a:r>
                        <a:rPr lang="en-IN" sz="14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Actual Result</a:t>
                      </a:r>
                    </a:p>
                  </a:txBody>
                  <a:tcPr marL="63500" marR="63500" marT="31750" marB="317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87988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defTabSz="914400" rtl="0" eaLnBrk="1" latinLnBrk="0" hangingPunct="1"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buNone/>
                      </a:pPr>
                      <a:r>
                        <a:rPr lang="en-IN" sz="14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Valid Record</a:t>
                      </a:r>
                    </a:p>
                  </a:txBody>
                  <a:tcPr marL="63500" marR="63500" marT="31750" marB="317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defTabSz="914400" rtl="0" eaLnBrk="1" latinLnBrk="0" hangingPunct="1"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buNone/>
                      </a:pPr>
                      <a:r>
                        <a:rPr lang="en-IN" sz="14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Student 10001 (Jane Smith)</a:t>
                      </a:r>
                    </a:p>
                  </a:txBody>
                  <a:tcPr marL="63500" marR="63500" marT="31750" marB="317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defTabSz="914400" rtl="0" eaLnBrk="1" latinLnBrk="0" hangingPunct="1"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buNone/>
                      </a:pPr>
                      <a:r>
                        <a:rPr lang="en-IN" sz="14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Transformed &amp; sent to Service Bus</a:t>
                      </a:r>
                    </a:p>
                  </a:txBody>
                  <a:tcPr marL="63500" marR="63500" marT="31750" marB="317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defTabSz="914400" rtl="0" eaLnBrk="1" latinLnBrk="0" hangingPunct="1"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buNone/>
                      </a:pPr>
                      <a:r>
                        <a:rPr lang="en-IN" sz="14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Pass</a:t>
                      </a:r>
                    </a:p>
                  </a:txBody>
                  <a:tcPr marL="63500" marR="63500" marT="31750" marB="317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52634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defTabSz="914400" rtl="0" eaLnBrk="1" latinLnBrk="0" hangingPunct="1"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buNone/>
                      </a:pPr>
                      <a:r>
                        <a:rPr lang="en-IN" sz="14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Missing Field</a:t>
                      </a:r>
                    </a:p>
                  </a:txBody>
                  <a:tcPr marL="63500" marR="63500" marT="31750" marB="317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defTabSz="914400" rtl="0" eaLnBrk="1" latinLnBrk="0" hangingPunct="1"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buNone/>
                      </a:pPr>
                      <a:r>
                        <a:rPr lang="en-IN" sz="14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Student 10013 (no forename)</a:t>
                      </a:r>
                    </a:p>
                  </a:txBody>
                  <a:tcPr marL="63500" marR="63500" marT="31750" marB="317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defTabSz="914400" rtl="0" eaLnBrk="1" latinLnBrk="0" hangingPunct="1"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buNone/>
                      </a:pPr>
                      <a:r>
                        <a:rPr lang="en-IN" sz="14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Rejected with clear error</a:t>
                      </a:r>
                    </a:p>
                  </a:txBody>
                  <a:tcPr marL="63500" marR="63500" marT="31750" marB="317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defTabSz="914400" rtl="0" eaLnBrk="1" latinLnBrk="0" hangingPunct="1"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buNone/>
                      </a:pPr>
                      <a:r>
                        <a:rPr lang="en-IN" sz="14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Pass</a:t>
                      </a:r>
                    </a:p>
                  </a:txBody>
                  <a:tcPr marL="63500" marR="63500" marT="31750" marB="317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92385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defTabSz="914400" rtl="0" eaLnBrk="1" latinLnBrk="0" hangingPunct="1"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buNone/>
                      </a:pPr>
                      <a:r>
                        <a:rPr lang="en-IN" sz="14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Invalid Data</a:t>
                      </a:r>
                    </a:p>
                  </a:txBody>
                  <a:tcPr marL="63500" marR="63500" marT="31750" marB="317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defTabSz="914400" rtl="0" eaLnBrk="1" latinLnBrk="0" hangingPunct="1"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buNone/>
                      </a:pPr>
                      <a:r>
                        <a:rPr lang="en-IN" sz="14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Student 10011 (wrong course)</a:t>
                      </a:r>
                    </a:p>
                  </a:txBody>
                  <a:tcPr marL="63500" marR="63500" marT="31750" marB="317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defTabSz="914400" rtl="0" eaLnBrk="1" latinLnBrk="0" hangingPunct="1"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buNone/>
                      </a:pPr>
                      <a:r>
                        <a:rPr lang="en-IN" sz="14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Rejected with clear error</a:t>
                      </a:r>
                    </a:p>
                  </a:txBody>
                  <a:tcPr marL="63500" marR="63500" marT="31750" marB="317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defTabSz="914400" rtl="0" eaLnBrk="1" latinLnBrk="0" hangingPunct="1"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buNone/>
                      </a:pPr>
                      <a:r>
                        <a:rPr lang="en-IN" sz="14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Pass</a:t>
                      </a:r>
                    </a:p>
                  </a:txBody>
                  <a:tcPr marL="63500" marR="63500" marT="31750" marB="317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65101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defTabSz="914400" rtl="0" eaLnBrk="1" latinLnBrk="0" hangingPunct="1"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buNone/>
                      </a:pPr>
                      <a:r>
                        <a:rPr lang="en-IN" sz="14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Duplicate ID</a:t>
                      </a:r>
                    </a:p>
                  </a:txBody>
                  <a:tcPr marL="63500" marR="63500" marT="31750" marB="317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defTabSz="914400" rtl="0" eaLnBrk="1" latinLnBrk="0" hangingPunct="1"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buNone/>
                      </a:pPr>
                      <a:r>
                        <a:rPr lang="en-IN" sz="14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Student 10004 (appears twice)</a:t>
                      </a:r>
                    </a:p>
                  </a:txBody>
                  <a:tcPr marL="63500" marR="63500" marT="31750" marB="317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defTabSz="914400" rtl="0" eaLnBrk="1" latinLnBrk="0" hangingPunct="1"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buNone/>
                      </a:pPr>
                      <a:r>
                        <a:rPr lang="en-IN" sz="14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First accepted, second rejected</a:t>
                      </a:r>
                    </a:p>
                  </a:txBody>
                  <a:tcPr marL="63500" marR="63500" marT="31750" marB="317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defTabSz="914400" rtl="0" eaLnBrk="1" latinLnBrk="0" hangingPunct="1"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buNone/>
                      </a:pPr>
                      <a:r>
                        <a:rPr lang="en-IN" sz="14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Pass</a:t>
                      </a:r>
                    </a:p>
                  </a:txBody>
                  <a:tcPr marL="63500" marR="63500" marT="31750" marB="317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4560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defTabSz="914400" rtl="0" eaLnBrk="1" latinLnBrk="0" hangingPunct="1"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buNone/>
                      </a:pPr>
                      <a:r>
                        <a:rPr lang="en-IN" sz="14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Empty Email</a:t>
                      </a:r>
                    </a:p>
                  </a:txBody>
                  <a:tcPr marL="63500" marR="63500" marT="31750" marB="317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defTabSz="914400" rtl="0" eaLnBrk="1" latinLnBrk="0" hangingPunct="1"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buNone/>
                      </a:pPr>
                      <a:r>
                        <a:rPr lang="en-IN" sz="14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Student 10012 (empty email)</a:t>
                      </a:r>
                    </a:p>
                  </a:txBody>
                  <a:tcPr marL="63500" marR="63500" marT="31750" marB="317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defTabSz="914400" rtl="0" eaLnBrk="1" latinLnBrk="0" hangingPunct="1"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buNone/>
                      </a:pPr>
                      <a:r>
                        <a:rPr lang="en-IN" sz="14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Rejected with clear error</a:t>
                      </a:r>
                    </a:p>
                  </a:txBody>
                  <a:tcPr marL="63500" marR="63500" marT="31750" marB="317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defTabSz="914400" rtl="0" eaLnBrk="1" latinLnBrk="0" hangingPunct="1"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buNone/>
                      </a:pPr>
                      <a:r>
                        <a:rPr lang="en-IN" sz="14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Pass</a:t>
                      </a:r>
                    </a:p>
                  </a:txBody>
                  <a:tcPr marL="63500" marR="63500" marT="31750" marB="317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756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defTabSz="914400" rtl="0" eaLnBrk="1" latinLnBrk="0" hangingPunct="1"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buNone/>
                      </a:pPr>
                      <a:r>
                        <a:rPr lang="en-IN" sz="14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Full Dataset</a:t>
                      </a:r>
                    </a:p>
                  </a:txBody>
                  <a:tcPr marL="63500" marR="63500" marT="31750" marB="317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defTabSz="914400" rtl="0" eaLnBrk="1" latinLnBrk="0" hangingPunct="1"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buNone/>
                      </a:pPr>
                      <a:r>
                        <a:rPr lang="en-IN" sz="14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All 14 records</a:t>
                      </a:r>
                    </a:p>
                  </a:txBody>
                  <a:tcPr marL="63500" marR="63500" marT="31750" marB="317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defTabSz="914400" rtl="0" eaLnBrk="1" latinLnBrk="0" hangingPunct="1"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buNone/>
                      </a:pPr>
                      <a:r>
                        <a:rPr lang="en-IN" sz="14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10 success, 4 failures</a:t>
                      </a:r>
                    </a:p>
                  </a:txBody>
                  <a:tcPr marL="63500" marR="63500" marT="31750" marB="317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defTabSz="914400" rtl="0" eaLnBrk="1" latinLnBrk="0" hangingPunct="1"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buNone/>
                      </a:pPr>
                      <a:r>
                        <a:rPr lang="en-IN" sz="14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Pass</a:t>
                      </a:r>
                    </a:p>
                  </a:txBody>
                  <a:tcPr marL="63500" marR="63500" marT="31750" marB="317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98623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475B5A37-9AB6-3201-43D9-B7BEC66346CC}"/>
              </a:ext>
            </a:extLst>
          </p:cNvPr>
          <p:cNvSpPr txBox="1"/>
          <p:nvPr/>
        </p:nvSpPr>
        <p:spPr>
          <a:xfrm>
            <a:off x="755904" y="4130979"/>
            <a:ext cx="8522589" cy="1345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spcAft>
                <a:spcPts val="1200"/>
              </a:spcAft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Verification Methods</a:t>
            </a:r>
          </a:p>
          <a:p>
            <a:pPr>
              <a:lnSpc>
                <a:spcPct val="90000"/>
              </a:lnSpc>
              <a:spcBef>
                <a:spcPts val="1000"/>
              </a:spcBef>
              <a:spcAft>
                <a:spcPts val="1200"/>
              </a:spcAft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Logic App Run History - All 14 iterations visible</a:t>
            </a:r>
            <a:b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Service Bus Queue - 10 messages sent and consumed</a:t>
            </a:r>
            <a:b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Success Blob - Contains 10 transformed records</a:t>
            </a:r>
            <a:b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Exception Blob - Contains 4 error records with reasons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91E0760-13CC-09E6-3069-374280A7B77A}"/>
              </a:ext>
            </a:extLst>
          </p:cNvPr>
          <p:cNvSpPr txBox="1"/>
          <p:nvPr/>
        </p:nvSpPr>
        <p:spPr>
          <a:xfrm>
            <a:off x="5257800" y="4060026"/>
            <a:ext cx="6096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l">
              <a:spcAft>
                <a:spcPts val="1200"/>
              </a:spcAft>
              <a:buNone/>
            </a:pPr>
            <a:r>
              <a:rPr lang="en-IN" sz="1400" b="1" dirty="0"/>
              <a:t>Processing Summary:</a:t>
            </a:r>
          </a:p>
          <a:p>
            <a:pPr indent="0" algn="l">
              <a:buNone/>
            </a:pPr>
            <a:r>
              <a:rPr lang="en-IN" sz="1400" dirty="0"/>
              <a:t>{</a:t>
            </a:r>
          </a:p>
          <a:p>
            <a:pPr indent="0" algn="l">
              <a:buNone/>
            </a:pPr>
            <a:r>
              <a:rPr lang="en-IN" sz="1400" dirty="0"/>
              <a:t>  "</a:t>
            </a:r>
            <a:r>
              <a:rPr lang="en-IN" sz="1400" dirty="0" err="1"/>
              <a:t>totalRecords</a:t>
            </a:r>
            <a:r>
              <a:rPr lang="en-IN" sz="1400" dirty="0"/>
              <a:t>": "14",</a:t>
            </a:r>
          </a:p>
          <a:p>
            <a:pPr indent="0" algn="l">
              <a:buNone/>
            </a:pPr>
            <a:r>
              <a:rPr lang="en-IN" sz="1400" dirty="0"/>
              <a:t>  "</a:t>
            </a:r>
            <a:r>
              <a:rPr lang="en-IN" sz="1400" dirty="0" err="1"/>
              <a:t>successfulRecords</a:t>
            </a:r>
            <a:r>
              <a:rPr lang="en-IN" sz="1400" dirty="0"/>
              <a:t>": "10",</a:t>
            </a:r>
          </a:p>
          <a:p>
            <a:pPr indent="0" algn="l">
              <a:buNone/>
            </a:pPr>
            <a:r>
              <a:rPr lang="en-IN" sz="1400" dirty="0"/>
              <a:t>  "</a:t>
            </a:r>
            <a:r>
              <a:rPr lang="en-IN" sz="1400" dirty="0" err="1"/>
              <a:t>failedRecords</a:t>
            </a:r>
            <a:r>
              <a:rPr lang="en-IN" sz="1400" dirty="0"/>
              <a:t>": "4",</a:t>
            </a:r>
          </a:p>
          <a:p>
            <a:pPr indent="0" algn="l">
              <a:buNone/>
            </a:pPr>
            <a:r>
              <a:rPr lang="en-IN" sz="1400" dirty="0"/>
              <a:t>  "</a:t>
            </a:r>
            <a:r>
              <a:rPr lang="en-IN" sz="1400" dirty="0" err="1"/>
              <a:t>processingTimestamp</a:t>
            </a:r>
            <a:r>
              <a:rPr lang="en-IN" sz="1400" dirty="0"/>
              <a:t>": "2026-09-01T21:21:11Z"</a:t>
            </a:r>
          </a:p>
          <a:p>
            <a:pPr indent="0" algn="l">
              <a:buNone/>
            </a:pPr>
            <a:r>
              <a:rPr lang="en-IN" sz="14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227292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081FEB-C82B-031D-2897-8E64DA1803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Key Assumptions &amp; Design Decisions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B0D0C2-7BBD-293C-B92C-38CBDBD753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864352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Assumptions Made</a:t>
            </a:r>
          </a:p>
          <a:p>
            <a:pPr lvl="0"/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 Mapping: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Exact match required - no fuzzy matching</a:t>
            </a:r>
          </a:p>
          <a:p>
            <a:pPr lvl="0"/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Duplicate Handling: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First occurrence wins (not last, not merge)</a:t>
            </a:r>
          </a:p>
          <a:p>
            <a:pPr lvl="0"/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Email Validation: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Basic format check sufficient (contains '@' and '.')</a:t>
            </a:r>
          </a:p>
          <a:p>
            <a:pPr lvl="0"/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Fields Mandatory: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Even though schema allows nulls</a:t>
            </a:r>
          </a:p>
          <a:p>
            <a:pPr lvl="0"/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Status Field: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Always "Active" for all successful records</a:t>
            </a:r>
          </a:p>
          <a:p>
            <a:pPr lvl="0"/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Sequential Processing: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Prioritized reliability over speed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E2027D-C107-5F7A-A8B8-9E2DBF1405D1}"/>
              </a:ext>
            </a:extLst>
          </p:cNvPr>
          <p:cNvSpPr txBox="1"/>
          <p:nvPr/>
        </p:nvSpPr>
        <p:spPr>
          <a:xfrm>
            <a:off x="6256782" y="1825625"/>
            <a:ext cx="4871466" cy="3754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IN" sz="1400" b="1" dirty="0"/>
              <a:t>Design Decisions &amp; Justifications</a:t>
            </a:r>
          </a:p>
          <a:p>
            <a:pPr marL="0" indent="0">
              <a:buNone/>
            </a:pPr>
            <a:r>
              <a:rPr lang="en-IN" sz="1400" b="1" dirty="0"/>
              <a:t>Why Service Bus Queue (not Topic/Subscription)?</a:t>
            </a:r>
            <a:endParaRPr lang="en-IN" sz="1400" dirty="0"/>
          </a:p>
          <a:p>
            <a:pPr lvl="0"/>
            <a:r>
              <a:rPr lang="en-IN" sz="1400" dirty="0"/>
              <a:t>Single consumer scenario (Logic App 2)</a:t>
            </a:r>
          </a:p>
          <a:p>
            <a:pPr lvl="0"/>
            <a:r>
              <a:rPr lang="en-IN" sz="1400" dirty="0"/>
              <a:t>Simpler to configure and demonstrate</a:t>
            </a:r>
          </a:p>
          <a:p>
            <a:pPr lvl="0"/>
            <a:r>
              <a:rPr lang="en-IN" sz="1400" dirty="0"/>
              <a:t>Meets architectural boundary requirement</a:t>
            </a:r>
          </a:p>
          <a:p>
            <a:pPr marL="0" indent="0">
              <a:buNone/>
            </a:pPr>
            <a:r>
              <a:rPr lang="en-IN" sz="1400" b="1" dirty="0"/>
              <a:t>Why Sequential Processing?</a:t>
            </a:r>
            <a:endParaRPr lang="en-IN" sz="1400" dirty="0"/>
          </a:p>
          <a:p>
            <a:pPr lvl="0"/>
            <a:r>
              <a:rPr lang="en-IN" sz="1400" dirty="0"/>
              <a:t>Prevents duplicate detection race conditions</a:t>
            </a:r>
          </a:p>
          <a:p>
            <a:pPr lvl="0"/>
            <a:r>
              <a:rPr lang="en-IN" sz="1400" dirty="0"/>
              <a:t>More reliable than parallel with shared state</a:t>
            </a:r>
          </a:p>
          <a:p>
            <a:pPr lvl="0"/>
            <a:r>
              <a:rPr lang="en-IN" sz="1400" dirty="0"/>
              <a:t>Performance acceptable for this use case</a:t>
            </a:r>
          </a:p>
          <a:p>
            <a:pPr marL="0" indent="0">
              <a:buNone/>
            </a:pPr>
            <a:r>
              <a:rPr lang="en-IN" sz="1400" b="1" dirty="0"/>
              <a:t>Why In-Memory Duplicate Check (not Table Storage)?</a:t>
            </a:r>
            <a:endParaRPr lang="en-IN" sz="1400" dirty="0"/>
          </a:p>
          <a:p>
            <a:pPr lvl="0"/>
            <a:r>
              <a:rPr lang="en-IN" sz="1400" dirty="0"/>
              <a:t>Simpler implementation for assessment scope</a:t>
            </a:r>
          </a:p>
          <a:p>
            <a:pPr lvl="0"/>
            <a:r>
              <a:rPr lang="en-IN" sz="1400" dirty="0"/>
              <a:t>Sufficient for batch processing per file</a:t>
            </a:r>
          </a:p>
          <a:p>
            <a:pPr lvl="0"/>
            <a:r>
              <a:rPr lang="en-IN" sz="1400" dirty="0"/>
              <a:t>Table Storage could be added for cross-file persistence</a:t>
            </a:r>
          </a:p>
          <a:p>
            <a:pPr marL="0" indent="0">
              <a:buNone/>
            </a:pPr>
            <a:r>
              <a:rPr lang="en-IN" sz="1400" b="1" dirty="0"/>
              <a:t>Why Filter Array for Duplicate Check?</a:t>
            </a:r>
            <a:endParaRPr lang="en-IN" sz="1400" dirty="0"/>
          </a:p>
          <a:p>
            <a:pPr lvl="0"/>
            <a:r>
              <a:rPr lang="en-IN" sz="1400" dirty="0"/>
              <a:t>More reliable than string contains()</a:t>
            </a:r>
          </a:p>
          <a:p>
            <a:pPr lvl="0"/>
            <a:r>
              <a:rPr lang="en-IN" sz="1400" dirty="0"/>
              <a:t>Clear and explicit logic</a:t>
            </a:r>
          </a:p>
          <a:p>
            <a:pPr lvl="0"/>
            <a:r>
              <a:rPr lang="en-IN" sz="1400" dirty="0"/>
              <a:t>Easy to debug in run history</a:t>
            </a:r>
          </a:p>
        </p:txBody>
      </p:sp>
    </p:spTree>
    <p:extLst>
      <p:ext uri="{BB962C8B-B14F-4D97-AF65-F5344CB8AC3E}">
        <p14:creationId xmlns:p14="http://schemas.microsoft.com/office/powerpoint/2010/main" val="7138619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56118C-C6D5-4AD5-BBC4-E5CBC8BAC1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4192" y="2473610"/>
            <a:ext cx="10515600" cy="1325563"/>
          </a:xfrm>
        </p:spPr>
        <p:txBody>
          <a:bodyPr/>
          <a:lstStyle/>
          <a:p>
            <a:pPr algn="ctr"/>
            <a:r>
              <a:rPr lang="en-IN" b="1" dirty="0"/>
              <a:t>Live Demonstration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713655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2B8133-A97F-3D07-8959-A939E9CD19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Solution Highlights &amp; Achievements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7CAD3A-D185-1E2D-61F9-763A1C71AC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35025"/>
            <a:ext cx="5699760" cy="25968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400" b="1" dirty="0"/>
              <a:t>What Was Delivered</a:t>
            </a:r>
          </a:p>
          <a:p>
            <a:r>
              <a:rPr lang="en-IN" sz="1400" b="1" dirty="0"/>
              <a:t>Fully Functional Integration</a:t>
            </a:r>
            <a:r>
              <a:rPr lang="en-IN" sz="1400" dirty="0"/>
              <a:t> - Processes all 14 test records correctly</a:t>
            </a:r>
          </a:p>
          <a:p>
            <a:r>
              <a:rPr lang="en-IN" sz="1400" b="1" dirty="0"/>
              <a:t>Service Bus Boundary</a:t>
            </a:r>
            <a:r>
              <a:rPr lang="en-IN" sz="1400" dirty="0"/>
              <a:t> - Clean separation of transformation and output</a:t>
            </a:r>
          </a:p>
          <a:p>
            <a:r>
              <a:rPr lang="en-IN" sz="1400" b="1" dirty="0"/>
              <a:t>Comprehensive Validation</a:t>
            </a:r>
            <a:r>
              <a:rPr lang="en-IN" sz="1400" dirty="0"/>
              <a:t> - Multiple layers catching all issues</a:t>
            </a:r>
          </a:p>
          <a:p>
            <a:r>
              <a:rPr lang="en-IN" sz="1400" b="1" dirty="0"/>
              <a:t>Clear Error Reporting</a:t>
            </a:r>
            <a:r>
              <a:rPr lang="en-IN" sz="1400" dirty="0"/>
              <a:t> - Support-friendly exception messages</a:t>
            </a:r>
          </a:p>
          <a:p>
            <a:r>
              <a:rPr lang="en-IN" sz="1400" b="1" dirty="0"/>
              <a:t>Duplicate Detection</a:t>
            </a:r>
            <a:r>
              <a:rPr lang="en-IN" sz="1400" dirty="0"/>
              <a:t> - Sequential processing prevents race conditions</a:t>
            </a:r>
          </a:p>
          <a:p>
            <a:r>
              <a:rPr lang="en-IN" sz="1400" b="1" dirty="0"/>
              <a:t>Testing Evidence</a:t>
            </a:r>
            <a:r>
              <a:rPr lang="en-IN" sz="1400" dirty="0"/>
              <a:t> - All required test scenarios passed</a:t>
            </a:r>
          </a:p>
          <a:p>
            <a:endParaRPr lang="en-IN" sz="1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D159D7-080A-A9E6-D0FD-6542F9AC254F}"/>
              </a:ext>
            </a:extLst>
          </p:cNvPr>
          <p:cNvSpPr txBox="1"/>
          <p:nvPr/>
        </p:nvSpPr>
        <p:spPr>
          <a:xfrm>
            <a:off x="6649974" y="1335025"/>
            <a:ext cx="6094476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1" dirty="0"/>
              <a:t>Technical Achievements</a:t>
            </a:r>
          </a:p>
          <a:p>
            <a:r>
              <a:rPr lang="en-IN" sz="1400" b="1" dirty="0"/>
              <a:t>Duplicate Detection Challenge:</a:t>
            </a:r>
            <a:endParaRPr lang="en-IN" sz="1400" dirty="0"/>
          </a:p>
          <a:p>
            <a:pPr lvl="0"/>
            <a:r>
              <a:rPr lang="en-IN" sz="1400" dirty="0"/>
              <a:t>Solved race condition with sequential processing</a:t>
            </a:r>
          </a:p>
          <a:p>
            <a:pPr lvl="0"/>
            <a:r>
              <a:rPr lang="en-IN" sz="1400" dirty="0"/>
              <a:t>Used Filter Array for reliable ID checking</a:t>
            </a:r>
          </a:p>
          <a:p>
            <a:pPr lvl="0"/>
            <a:r>
              <a:rPr lang="en-IN" sz="1400" dirty="0"/>
              <a:t>Added IDs immediately after duplicate check</a:t>
            </a:r>
          </a:p>
          <a:p>
            <a:r>
              <a:rPr lang="en-IN" sz="1400" b="1" dirty="0"/>
              <a:t>Error Message Quality:</a:t>
            </a:r>
            <a:endParaRPr lang="en-IN" sz="1400" dirty="0"/>
          </a:p>
          <a:p>
            <a:pPr lvl="0"/>
            <a:r>
              <a:rPr lang="en-IN" sz="1400" dirty="0"/>
              <a:t>Each error includes original data for context</a:t>
            </a:r>
          </a:p>
          <a:p>
            <a:pPr lvl="0"/>
            <a:r>
              <a:rPr lang="en-IN" sz="1400" dirty="0"/>
              <a:t>Specific reason for failure</a:t>
            </a:r>
          </a:p>
          <a:p>
            <a:pPr lvl="0"/>
            <a:r>
              <a:rPr lang="en-IN" sz="1400" dirty="0"/>
              <a:t>Timestamp for audit trail</a:t>
            </a:r>
          </a:p>
          <a:p>
            <a:pPr lvl="0"/>
            <a:r>
              <a:rPr lang="en-IN" sz="1400" dirty="0"/>
              <a:t>No need to review code to understand failures</a:t>
            </a:r>
          </a:p>
          <a:p>
            <a:r>
              <a:rPr lang="en-IN" sz="1400" b="1" dirty="0"/>
              <a:t>Architectural Boundary:</a:t>
            </a:r>
            <a:endParaRPr lang="en-IN" sz="1400" dirty="0"/>
          </a:p>
          <a:p>
            <a:pPr lvl="0"/>
            <a:r>
              <a:rPr lang="en-IN" sz="1400" dirty="0"/>
              <a:t>Service Bus provides clean separation</a:t>
            </a:r>
          </a:p>
          <a:p>
            <a:pPr lvl="0"/>
            <a:r>
              <a:rPr lang="en-IN" sz="1400" dirty="0"/>
              <a:t>Transformation failures don't affect output logic</a:t>
            </a:r>
          </a:p>
          <a:p>
            <a:pPr lvl="0"/>
            <a:r>
              <a:rPr lang="en-IN" sz="1400" dirty="0"/>
              <a:t>Easy to scale or modify each stage independently</a:t>
            </a:r>
          </a:p>
        </p:txBody>
      </p:sp>
    </p:spTree>
    <p:extLst>
      <p:ext uri="{BB962C8B-B14F-4D97-AF65-F5344CB8AC3E}">
        <p14:creationId xmlns:p14="http://schemas.microsoft.com/office/powerpoint/2010/main" val="20563235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A87984-5047-E96B-2319-9D512E8318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Future Enhancements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50A2F6-BF40-9773-2743-92934977EC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6441"/>
            <a:ext cx="4968240" cy="4996434"/>
          </a:xfrm>
        </p:spPr>
        <p:txBody>
          <a:bodyPr>
            <a:normAutofit fontScale="40000" lnSpcReduction="20000"/>
          </a:bodyPr>
          <a:lstStyle/>
          <a:p>
            <a:pPr marL="0" indent="0">
              <a:buNone/>
            </a:pPr>
            <a:r>
              <a:rPr lang="en-IN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Production-Ready Improvements</a:t>
            </a:r>
          </a:p>
          <a:p>
            <a:pPr marL="0" indent="0">
              <a:buNone/>
            </a:pPr>
            <a:r>
              <a:rPr lang="en-IN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Enhanced Validation</a:t>
            </a:r>
            <a:endParaRPr lang="en-IN" sz="3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Full regex email validation</a:t>
            </a:r>
          </a:p>
          <a:p>
            <a:pPr lvl="0"/>
            <a:r>
              <a:rPr lang="en-IN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ID format validation (e.g., must be 5 digits)</a:t>
            </a:r>
          </a:p>
          <a:p>
            <a:pPr lvl="0"/>
            <a:r>
              <a:rPr lang="en-IN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JSON Schema validation at input</a:t>
            </a:r>
          </a:p>
          <a:p>
            <a:pPr marL="0" indent="0">
              <a:buNone/>
            </a:pPr>
            <a:r>
              <a:rPr lang="en-IN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Persistent Duplicate Tracking</a:t>
            </a:r>
            <a:endParaRPr lang="en-IN" sz="3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Azure Table Storage for cross-file duplicate detection</a:t>
            </a:r>
          </a:p>
          <a:p>
            <a:pPr lvl="0"/>
            <a:r>
              <a:rPr lang="en-IN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 all processed IDs permanently</a:t>
            </a:r>
          </a:p>
          <a:p>
            <a:pPr lvl="0"/>
            <a:r>
              <a:rPr lang="en-IN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 re-submissions gracefully</a:t>
            </a:r>
          </a:p>
          <a:p>
            <a:pPr marL="0" indent="0">
              <a:buNone/>
            </a:pPr>
            <a:r>
              <a:rPr lang="en-IN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Advanced Monitoring</a:t>
            </a:r>
            <a:endParaRPr lang="en-IN" sz="3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 Insights integration</a:t>
            </a:r>
          </a:p>
          <a:p>
            <a:pPr lvl="0"/>
            <a:r>
              <a:rPr lang="en-IN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 telemetry events</a:t>
            </a:r>
          </a:p>
          <a:p>
            <a:pPr lvl="0"/>
            <a:r>
              <a:rPr lang="en-IN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Alerting on high error rates</a:t>
            </a:r>
          </a:p>
          <a:p>
            <a:pPr lvl="0"/>
            <a:r>
              <a:rPr lang="en-IN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Azure Dashboard with metrics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IN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Retry &amp; Error Handling</a:t>
            </a:r>
          </a:p>
          <a:p>
            <a:pPr marL="285750" lvl="0" indent="-285750">
              <a:lnSpc>
                <a:spcPct val="70000"/>
              </a:lnSpc>
            </a:pPr>
            <a:r>
              <a:rPr lang="en-IN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Dead Letter Queue for poison messages</a:t>
            </a:r>
          </a:p>
          <a:p>
            <a:pPr marL="285750" lvl="0" indent="-285750">
              <a:lnSpc>
                <a:spcPct val="70000"/>
              </a:lnSpc>
            </a:pPr>
            <a:r>
              <a:rPr lang="en-IN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Exponential backoff retry policy</a:t>
            </a:r>
          </a:p>
          <a:p>
            <a:pPr marL="285750" lvl="0" indent="-285750">
              <a:lnSpc>
                <a:spcPct val="70000"/>
              </a:lnSpc>
            </a:pPr>
            <a:r>
              <a:rPr lang="en-IN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Circuit breaker pattern for downstream failures</a:t>
            </a:r>
          </a:p>
          <a:p>
            <a:pPr lvl="0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998A8B4-255B-333A-6CE5-85BA024E057A}"/>
              </a:ext>
            </a:extLst>
          </p:cNvPr>
          <p:cNvSpPr txBox="1"/>
          <p:nvPr/>
        </p:nvSpPr>
        <p:spPr>
          <a:xfrm>
            <a:off x="6096000" y="1789679"/>
            <a:ext cx="6094476" cy="3736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70000"/>
              </a:lnSpc>
              <a:spcBef>
                <a:spcPts val="1000"/>
              </a:spcBef>
              <a:buFont typeface="Arial" panose="020B0604020202020204" pitchFamily="34" charset="0"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Performance Optimization</a:t>
            </a:r>
          </a:p>
          <a:p>
            <a:pPr marL="285750" lvl="0" indent="-285750">
              <a:lnSpc>
                <a:spcPct val="7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Parallel processing with proper locking</a:t>
            </a:r>
          </a:p>
          <a:p>
            <a:pPr marL="285750" lvl="0" indent="-285750">
              <a:lnSpc>
                <a:spcPct val="7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Service Bus sends</a:t>
            </a:r>
          </a:p>
          <a:p>
            <a:pPr marL="285750" lvl="0" indent="-285750">
              <a:lnSpc>
                <a:spcPct val="7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Optimize Filter Array with indexed lookups</a:t>
            </a:r>
          </a:p>
          <a:p>
            <a:pPr>
              <a:lnSpc>
                <a:spcPct val="70000"/>
              </a:lnSpc>
              <a:spcBef>
                <a:spcPts val="1000"/>
              </a:spcBef>
              <a:buFont typeface="Arial" panose="020B0604020202020204" pitchFamily="34" charset="0"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Security Enhancements</a:t>
            </a:r>
          </a:p>
          <a:p>
            <a:pPr marL="285750" lvl="0" indent="-285750">
              <a:lnSpc>
                <a:spcPct val="7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Managed Identity for connections</a:t>
            </a:r>
          </a:p>
          <a:p>
            <a:pPr marL="285750" lvl="0" indent="-285750">
              <a:lnSpc>
                <a:spcPct val="7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Vault for connection strings</a:t>
            </a:r>
          </a:p>
          <a:p>
            <a:pPr marL="285750" lvl="0" indent="-285750">
              <a:lnSpc>
                <a:spcPct val="7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Encryption at rest and in transit</a:t>
            </a:r>
          </a:p>
          <a:p>
            <a:pPr>
              <a:lnSpc>
                <a:spcPct val="70000"/>
              </a:lnSpc>
              <a:spcBef>
                <a:spcPts val="1000"/>
              </a:spcBef>
              <a:buFont typeface="Arial" panose="020B0604020202020204" pitchFamily="34" charset="0"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Additional Features</a:t>
            </a:r>
          </a:p>
          <a:p>
            <a:pPr marL="285750" lvl="0" indent="-285750">
              <a:lnSpc>
                <a:spcPct val="7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Email notifications on failures</a:t>
            </a:r>
          </a:p>
          <a:p>
            <a:pPr marL="285750" lvl="0" indent="-285750">
              <a:lnSpc>
                <a:spcPct val="7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 data correction suggestions</a:t>
            </a:r>
          </a:p>
          <a:p>
            <a:pPr marL="285750" lvl="0" indent="-285750">
              <a:lnSpc>
                <a:spcPct val="7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for partial batch failures</a:t>
            </a:r>
          </a:p>
          <a:p>
            <a:pPr marL="285750" lvl="0" indent="-285750">
              <a:lnSpc>
                <a:spcPct val="7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Versioning of transformation rules</a:t>
            </a:r>
          </a:p>
        </p:txBody>
      </p:sp>
    </p:spTree>
    <p:extLst>
      <p:ext uri="{BB962C8B-B14F-4D97-AF65-F5344CB8AC3E}">
        <p14:creationId xmlns:p14="http://schemas.microsoft.com/office/powerpoint/2010/main" val="13556500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643</TotalTime>
  <Words>1341</Words>
  <Application>Microsoft Office PowerPoint</Application>
  <PresentationFormat>Widescreen</PresentationFormat>
  <Paragraphs>256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Aptos</vt:lpstr>
      <vt:lpstr>Aptos Display</vt:lpstr>
      <vt:lpstr>Arial</vt:lpstr>
      <vt:lpstr>Courier New</vt:lpstr>
      <vt:lpstr>Times New Roman</vt:lpstr>
      <vt:lpstr>Office Theme</vt:lpstr>
      <vt:lpstr>STUDENT ENROLMENT DATA INTEGRATION SOLUTION  Azure Integration Developer Technical Assessment    University of Portsmouth - Library and Information Services  Presenter: Mohammad Kafee Uddin</vt:lpstr>
      <vt:lpstr>Business Problem &amp; Requirements </vt:lpstr>
      <vt:lpstr>High-Level Design </vt:lpstr>
      <vt:lpstr>Azure Services Used</vt:lpstr>
      <vt:lpstr>Data Transformation Logic </vt:lpstr>
      <vt:lpstr>Validation &amp; Exception Handling</vt:lpstr>
      <vt:lpstr>Data Quality Issues Found</vt:lpstr>
      <vt:lpstr> Testing Evidence &amp; Results</vt:lpstr>
      <vt:lpstr>Key Assumptions &amp; Design Decisions</vt:lpstr>
      <vt:lpstr>Live Demonstration</vt:lpstr>
      <vt:lpstr>Solution Highlights &amp; Achievements </vt:lpstr>
      <vt:lpstr>Future Enhancements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Mohammad Kafee Uddin</dc:creator>
  <cp:lastModifiedBy>Mohammad Kafee Uddin</cp:lastModifiedBy>
  <cp:revision>9</cp:revision>
  <dcterms:created xsi:type="dcterms:W3CDTF">2026-09-01T22:21:02Z</dcterms:created>
  <dcterms:modified xsi:type="dcterms:W3CDTF">2026-09-02T09:05:00Z</dcterms:modified>
</cp:coreProperties>
</file>